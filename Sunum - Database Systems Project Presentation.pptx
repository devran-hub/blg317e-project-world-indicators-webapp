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ntonio Bold" charset="1" panose="02000803000000000000"/>
      <p:regular r:id="rId29"/>
    </p:embeddedFont>
    <p:embeddedFont>
      <p:font typeface="TT Interphases" charset="1" panose="02000503020000020004"/>
      <p:regular r:id="rId30"/>
    </p:embeddedFont>
    <p:embeddedFont>
      <p:font typeface="TT Interphases Bold" charset="1" panose="02000803060000020004"/>
      <p:regular r:id="rId31"/>
    </p:embeddedFont>
    <p:embeddedFont>
      <p:font typeface="Antonio Light" charset="1" panose="02000303000000000000"/>
      <p:regular r:id="rId32"/>
    </p:embeddedFont>
    <p:embeddedFont>
      <p:font typeface="Antonio" charset="1" panose="02000503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991600" y="1562100"/>
            <a:ext cx="8629650" cy="8724900"/>
            <a:chOff x="0" y="0"/>
            <a:chExt cx="2482140" cy="2509537"/>
          </a:xfrm>
        </p:grpSpPr>
        <p:sp>
          <p:nvSpPr>
            <p:cNvPr name="Freeform 3" id="3"/>
            <p:cNvSpPr/>
            <p:nvPr/>
          </p:nvSpPr>
          <p:spPr>
            <a:xfrm flipH="false" flipV="false" rot="0">
              <a:off x="0" y="0"/>
              <a:ext cx="2482140" cy="2509537"/>
            </a:xfrm>
            <a:custGeom>
              <a:avLst/>
              <a:gdLst/>
              <a:ahLst/>
              <a:cxnLst/>
              <a:rect r="r" b="b" t="t" l="l"/>
              <a:pathLst>
                <a:path h="2509537" w="2482140">
                  <a:moveTo>
                    <a:pt x="0" y="0"/>
                  </a:moveTo>
                  <a:lnTo>
                    <a:pt x="2482140" y="0"/>
                  </a:lnTo>
                  <a:lnTo>
                    <a:pt x="2482140" y="2509537"/>
                  </a:lnTo>
                  <a:lnTo>
                    <a:pt x="0" y="2509537"/>
                  </a:lnTo>
                  <a:close/>
                </a:path>
              </a:pathLst>
            </a:custGeom>
            <a:blipFill>
              <a:blip r:embed="rId2"/>
              <a:stretch>
                <a:fillRect l="0" t="-80" r="0" b="-80"/>
              </a:stretch>
            </a:blipFill>
          </p:spPr>
        </p:sp>
      </p:grpSp>
      <p:sp>
        <p:nvSpPr>
          <p:cNvPr name="TextBox 4" id="4"/>
          <p:cNvSpPr txBox="true"/>
          <p:nvPr/>
        </p:nvSpPr>
        <p:spPr>
          <a:xfrm rot="0">
            <a:off x="666750" y="1628775"/>
            <a:ext cx="6886575" cy="3025140"/>
          </a:xfrm>
          <a:prstGeom prst="rect">
            <a:avLst/>
          </a:prstGeom>
        </p:spPr>
        <p:txBody>
          <a:bodyPr anchor="t" rtlCol="false" tIns="0" lIns="0" bIns="0" rIns="0">
            <a:spAutoFit/>
          </a:bodyPr>
          <a:lstStyle/>
          <a:p>
            <a:pPr algn="l" marL="0" indent="0" lvl="0">
              <a:lnSpc>
                <a:spcPts val="7920"/>
              </a:lnSpc>
            </a:pPr>
            <a:r>
              <a:rPr lang="en-US" b="true" sz="7200" strike="noStrike" u="none">
                <a:solidFill>
                  <a:srgbClr val="38B6FF"/>
                </a:solidFill>
                <a:latin typeface="Antonio Bold"/>
                <a:ea typeface="Antonio Bold"/>
                <a:cs typeface="Antonio Bold"/>
                <a:sym typeface="Antonio Bold"/>
              </a:rPr>
              <a:t>Database Systems Project Presentation</a:t>
            </a:r>
          </a:p>
        </p:txBody>
      </p:sp>
      <p:sp>
        <p:nvSpPr>
          <p:cNvPr name="TextBox 5" id="5"/>
          <p:cNvSpPr txBox="true"/>
          <p:nvPr/>
        </p:nvSpPr>
        <p:spPr>
          <a:xfrm rot="0">
            <a:off x="666750" y="9271451"/>
            <a:ext cx="5448300" cy="366092"/>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CCE2F3"/>
                </a:solidFill>
                <a:latin typeface="TT Interphases"/>
                <a:ea typeface="TT Interphases"/>
                <a:cs typeface="TT Interphases"/>
                <a:sym typeface="TT Interphases"/>
              </a:rPr>
              <a:t>Presented by: Group Oracle</a:t>
            </a:r>
          </a:p>
        </p:txBody>
      </p:sp>
      <p:sp>
        <p:nvSpPr>
          <p:cNvPr name="AutoShape 6" id="6"/>
          <p:cNvSpPr/>
          <p:nvPr/>
        </p:nvSpPr>
        <p:spPr>
          <a:xfrm>
            <a:off x="666750" y="1263650"/>
            <a:ext cx="16954500" cy="0"/>
          </a:xfrm>
          <a:prstGeom prst="line">
            <a:avLst/>
          </a:prstGeom>
          <a:ln cap="flat" w="9525">
            <a:solidFill>
              <a:srgbClr val="2F4F4F"/>
            </a:solidFill>
            <a:prstDash val="solid"/>
            <a:headEnd type="none" len="sm" w="sm"/>
            <a:tailEnd type="none" len="sm" w="sm"/>
          </a:ln>
        </p:spPr>
      </p:sp>
      <p:sp>
        <p:nvSpPr>
          <p:cNvPr name="TextBox 7" id="7"/>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CCE2F3"/>
                </a:solidFill>
                <a:latin typeface="TT Interphases Bold"/>
                <a:ea typeface="TT Interphases Bold"/>
                <a:cs typeface="TT Interphases Bold"/>
                <a:sym typeface="TT Interphases Bold"/>
              </a:rPr>
              <a:t>PROJECT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499657" y="2076654"/>
            <a:ext cx="3847494" cy="1993616"/>
            <a:chOff x="0" y="0"/>
            <a:chExt cx="5129992" cy="2658155"/>
          </a:xfrm>
        </p:grpSpPr>
        <p:sp>
          <p:nvSpPr>
            <p:cNvPr name="AutoShape 3" id="3"/>
            <p:cNvSpPr/>
            <p:nvPr/>
          </p:nvSpPr>
          <p:spPr>
            <a:xfrm flipV="true">
              <a:off x="0" y="11324"/>
              <a:ext cx="5129992" cy="0"/>
            </a:xfrm>
            <a:prstGeom prst="line">
              <a:avLst/>
            </a:prstGeom>
            <a:ln cap="flat" w="22649">
              <a:solidFill>
                <a:srgbClr val="2F4F4F"/>
              </a:solidFill>
              <a:prstDash val="solid"/>
              <a:headEnd type="none" len="sm" w="sm"/>
              <a:tailEnd type="none" len="sm" w="sm"/>
            </a:ln>
          </p:spPr>
        </p:sp>
        <p:sp>
          <p:nvSpPr>
            <p:cNvPr name="TextBox 4" id="4"/>
            <p:cNvSpPr txBox="true"/>
            <p:nvPr/>
          </p:nvSpPr>
          <p:spPr>
            <a:xfrm rot="0">
              <a:off x="65287" y="1388073"/>
              <a:ext cx="5064705" cy="1270082"/>
            </a:xfrm>
            <a:prstGeom prst="rect">
              <a:avLst/>
            </a:prstGeom>
          </p:spPr>
          <p:txBody>
            <a:bodyPr anchor="t" rtlCol="false" tIns="0" lIns="0" bIns="0" rIns="0">
              <a:spAutoFit/>
            </a:bodyPr>
            <a:lstStyle/>
            <a:p>
              <a:pPr algn="l">
                <a:lnSpc>
                  <a:spcPts val="2621"/>
                </a:lnSpc>
              </a:pPr>
              <a:r>
                <a:rPr lang="en-US" sz="1872">
                  <a:solidFill>
                    <a:srgbClr val="CCE2F3"/>
                  </a:solidFill>
                  <a:latin typeface="TT Interphases"/>
                  <a:ea typeface="TT Interphases"/>
                  <a:cs typeface="TT Interphases"/>
                  <a:sym typeface="TT Interphases"/>
                </a:rPr>
                <a:t>Fronted / Backend Operations and UI Views</a:t>
              </a:r>
            </a:p>
            <a:p>
              <a:pPr algn="l" marL="0" indent="0" lvl="0">
                <a:lnSpc>
                  <a:spcPts val="2621"/>
                </a:lnSpc>
              </a:pPr>
              <a:r>
                <a:rPr lang="en-US" sz="1872">
                  <a:solidFill>
                    <a:srgbClr val="CCE2F3"/>
                  </a:solidFill>
                  <a:latin typeface="TT Interphases"/>
                  <a:ea typeface="TT Interphases"/>
                  <a:cs typeface="TT Interphases"/>
                  <a:sym typeface="TT Interphases"/>
                </a:rPr>
                <a:t>Countries Table</a:t>
              </a:r>
            </a:p>
          </p:txBody>
        </p:sp>
        <p:sp>
          <p:nvSpPr>
            <p:cNvPr name="TextBox 5" id="5"/>
            <p:cNvSpPr txBox="true"/>
            <p:nvPr/>
          </p:nvSpPr>
          <p:spPr>
            <a:xfrm rot="0">
              <a:off x="65287" y="552697"/>
              <a:ext cx="5064705" cy="520152"/>
            </a:xfrm>
            <a:prstGeom prst="rect">
              <a:avLst/>
            </a:prstGeom>
          </p:spPr>
          <p:txBody>
            <a:bodyPr anchor="t" rtlCol="false" tIns="0" lIns="0" bIns="0" rIns="0">
              <a:spAutoFit/>
            </a:bodyPr>
            <a:lstStyle/>
            <a:p>
              <a:pPr algn="l" marL="0" indent="0" lvl="0">
                <a:lnSpc>
                  <a:spcPts val="2996"/>
                </a:lnSpc>
              </a:pPr>
              <a:r>
                <a:rPr lang="en-US" b="true" sz="2853">
                  <a:solidFill>
                    <a:srgbClr val="38B6FF"/>
                  </a:solidFill>
                  <a:latin typeface="Antonio Bold"/>
                  <a:ea typeface="Antonio Bold"/>
                  <a:cs typeface="Antonio Bold"/>
                  <a:sym typeface="Antonio Bold"/>
                </a:rPr>
                <a:t>Ali Huseynov</a:t>
              </a:r>
            </a:p>
          </p:txBody>
        </p:sp>
      </p:grpSp>
      <p:grpSp>
        <p:nvGrpSpPr>
          <p:cNvPr name="Group 6" id="6"/>
          <p:cNvGrpSpPr/>
          <p:nvPr/>
        </p:nvGrpSpPr>
        <p:grpSpPr>
          <a:xfrm rot="0">
            <a:off x="3499657" y="4913821"/>
            <a:ext cx="3847494" cy="1669766"/>
            <a:chOff x="0" y="0"/>
            <a:chExt cx="5129992" cy="2226355"/>
          </a:xfrm>
        </p:grpSpPr>
        <p:sp>
          <p:nvSpPr>
            <p:cNvPr name="AutoShape 7" id="7"/>
            <p:cNvSpPr/>
            <p:nvPr/>
          </p:nvSpPr>
          <p:spPr>
            <a:xfrm>
              <a:off x="0" y="11324"/>
              <a:ext cx="5129992" cy="0"/>
            </a:xfrm>
            <a:prstGeom prst="line">
              <a:avLst/>
            </a:prstGeom>
            <a:ln cap="flat" w="22649">
              <a:solidFill>
                <a:srgbClr val="2F4F4F"/>
              </a:solidFill>
              <a:prstDash val="solid"/>
              <a:headEnd type="none" len="sm" w="sm"/>
              <a:tailEnd type="none" len="sm" w="sm"/>
            </a:ln>
          </p:spPr>
        </p:sp>
        <p:sp>
          <p:nvSpPr>
            <p:cNvPr name="TextBox 8" id="8"/>
            <p:cNvSpPr txBox="true"/>
            <p:nvPr/>
          </p:nvSpPr>
          <p:spPr>
            <a:xfrm rot="0">
              <a:off x="0" y="1388073"/>
              <a:ext cx="5129992" cy="838282"/>
            </a:xfrm>
            <a:prstGeom prst="rect">
              <a:avLst/>
            </a:prstGeom>
          </p:spPr>
          <p:txBody>
            <a:bodyPr anchor="t" rtlCol="false" tIns="0" lIns="0" bIns="0" rIns="0">
              <a:spAutoFit/>
            </a:bodyPr>
            <a:lstStyle/>
            <a:p>
              <a:pPr algn="l" marL="0" indent="0" lvl="0">
                <a:lnSpc>
                  <a:spcPts val="2621"/>
                </a:lnSpc>
              </a:pPr>
              <a:r>
                <a:rPr lang="en-US" sz="1872">
                  <a:solidFill>
                    <a:srgbClr val="CCE2F3"/>
                  </a:solidFill>
                  <a:latin typeface="TT Interphases"/>
                  <a:ea typeface="TT Interphases"/>
                  <a:cs typeface="TT Interphases"/>
                  <a:sym typeface="TT Interphases"/>
                </a:rPr>
                <a:t>B</a:t>
              </a:r>
              <a:r>
                <a:rPr lang="en-US" sz="1872">
                  <a:solidFill>
                    <a:srgbClr val="CCE2F3"/>
                  </a:solidFill>
                  <a:latin typeface="TT Interphases"/>
                  <a:ea typeface="TT Interphases"/>
                  <a:cs typeface="TT Interphases"/>
                  <a:sym typeface="TT Interphases"/>
                </a:rPr>
                <a:t>ackend Operations, </a:t>
              </a:r>
            </a:p>
            <a:p>
              <a:pPr algn="l" marL="0" indent="0" lvl="0">
                <a:lnSpc>
                  <a:spcPts val="2621"/>
                </a:lnSpc>
              </a:pPr>
              <a:r>
                <a:rPr lang="en-US" sz="1872">
                  <a:solidFill>
                    <a:srgbClr val="CCE2F3"/>
                  </a:solidFill>
                  <a:latin typeface="TT Interphases"/>
                  <a:ea typeface="TT Interphases"/>
                  <a:cs typeface="TT Interphases"/>
                  <a:sym typeface="TT Interphases"/>
                </a:rPr>
                <a:t>Economy Indicators Table</a:t>
              </a:r>
            </a:p>
          </p:txBody>
        </p:sp>
        <p:sp>
          <p:nvSpPr>
            <p:cNvPr name="TextBox 9" id="9"/>
            <p:cNvSpPr txBox="true"/>
            <p:nvPr/>
          </p:nvSpPr>
          <p:spPr>
            <a:xfrm rot="0">
              <a:off x="0" y="552697"/>
              <a:ext cx="5129992" cy="520152"/>
            </a:xfrm>
            <a:prstGeom prst="rect">
              <a:avLst/>
            </a:prstGeom>
          </p:spPr>
          <p:txBody>
            <a:bodyPr anchor="t" rtlCol="false" tIns="0" lIns="0" bIns="0" rIns="0">
              <a:spAutoFit/>
            </a:bodyPr>
            <a:lstStyle/>
            <a:p>
              <a:pPr algn="l" marL="0" indent="0" lvl="0">
                <a:lnSpc>
                  <a:spcPts val="2996"/>
                </a:lnSpc>
              </a:pPr>
              <a:r>
                <a:rPr lang="en-US" b="true" sz="2853">
                  <a:solidFill>
                    <a:srgbClr val="38B6FF"/>
                  </a:solidFill>
                  <a:latin typeface="Antonio Bold"/>
                  <a:ea typeface="Antonio Bold"/>
                  <a:cs typeface="Antonio Bold"/>
                  <a:sym typeface="Antonio Bold"/>
                </a:rPr>
                <a:t>Devrim Polat</a:t>
              </a:r>
            </a:p>
          </p:txBody>
        </p:sp>
      </p:grpSp>
      <p:grpSp>
        <p:nvGrpSpPr>
          <p:cNvPr name="Group 10" id="10"/>
          <p:cNvGrpSpPr/>
          <p:nvPr/>
        </p:nvGrpSpPr>
        <p:grpSpPr>
          <a:xfrm rot="0">
            <a:off x="13033488" y="5642698"/>
            <a:ext cx="3847494" cy="1669766"/>
            <a:chOff x="0" y="0"/>
            <a:chExt cx="5129992" cy="2226355"/>
          </a:xfrm>
        </p:grpSpPr>
        <p:sp>
          <p:nvSpPr>
            <p:cNvPr name="AutoShape 11" id="11"/>
            <p:cNvSpPr/>
            <p:nvPr/>
          </p:nvSpPr>
          <p:spPr>
            <a:xfrm flipV="true">
              <a:off x="0" y="11324"/>
              <a:ext cx="5129992" cy="0"/>
            </a:xfrm>
            <a:prstGeom prst="line">
              <a:avLst/>
            </a:prstGeom>
            <a:ln cap="flat" w="22649">
              <a:solidFill>
                <a:srgbClr val="2F4F4F"/>
              </a:solidFill>
              <a:prstDash val="solid"/>
              <a:headEnd type="none" len="sm" w="sm"/>
              <a:tailEnd type="none" len="sm" w="sm"/>
            </a:ln>
          </p:spPr>
        </p:sp>
        <p:sp>
          <p:nvSpPr>
            <p:cNvPr name="TextBox 12" id="12"/>
            <p:cNvSpPr txBox="true"/>
            <p:nvPr/>
          </p:nvSpPr>
          <p:spPr>
            <a:xfrm rot="0">
              <a:off x="0" y="1388073"/>
              <a:ext cx="5129992" cy="838282"/>
            </a:xfrm>
            <a:prstGeom prst="rect">
              <a:avLst/>
            </a:prstGeom>
          </p:spPr>
          <p:txBody>
            <a:bodyPr anchor="t" rtlCol="false" tIns="0" lIns="0" bIns="0" rIns="0">
              <a:spAutoFit/>
            </a:bodyPr>
            <a:lstStyle/>
            <a:p>
              <a:pPr algn="l" marL="0" indent="0" lvl="0">
                <a:lnSpc>
                  <a:spcPts val="2621"/>
                </a:lnSpc>
              </a:pPr>
              <a:r>
                <a:rPr lang="en-US" sz="1872">
                  <a:solidFill>
                    <a:srgbClr val="CCE2F3"/>
                  </a:solidFill>
                  <a:latin typeface="TT Interphases"/>
                  <a:ea typeface="TT Interphases"/>
                  <a:cs typeface="TT Interphases"/>
                  <a:sym typeface="TT Interphases"/>
                </a:rPr>
                <a:t>Frontend Operations and UI Views, Education Indicators Table</a:t>
              </a:r>
            </a:p>
          </p:txBody>
        </p:sp>
        <p:sp>
          <p:nvSpPr>
            <p:cNvPr name="TextBox 13" id="13"/>
            <p:cNvSpPr txBox="true"/>
            <p:nvPr/>
          </p:nvSpPr>
          <p:spPr>
            <a:xfrm rot="0">
              <a:off x="0" y="552697"/>
              <a:ext cx="5129992" cy="520152"/>
            </a:xfrm>
            <a:prstGeom prst="rect">
              <a:avLst/>
            </a:prstGeom>
          </p:spPr>
          <p:txBody>
            <a:bodyPr anchor="t" rtlCol="false" tIns="0" lIns="0" bIns="0" rIns="0">
              <a:spAutoFit/>
            </a:bodyPr>
            <a:lstStyle/>
            <a:p>
              <a:pPr algn="l" marL="0" indent="0" lvl="0">
                <a:lnSpc>
                  <a:spcPts val="2996"/>
                </a:lnSpc>
              </a:pPr>
              <a:r>
                <a:rPr lang="en-US" b="true" sz="2853">
                  <a:solidFill>
                    <a:srgbClr val="38B6FF"/>
                  </a:solidFill>
                  <a:latin typeface="Antonio Bold"/>
                  <a:ea typeface="Antonio Bold"/>
                  <a:cs typeface="Antonio Bold"/>
                  <a:sym typeface="Antonio Bold"/>
                </a:rPr>
                <a:t>Mehmet Fatih Kaya</a:t>
              </a:r>
            </a:p>
          </p:txBody>
        </p:sp>
      </p:grpSp>
      <p:grpSp>
        <p:nvGrpSpPr>
          <p:cNvPr name="Group 14" id="14"/>
          <p:cNvGrpSpPr/>
          <p:nvPr/>
        </p:nvGrpSpPr>
        <p:grpSpPr>
          <a:xfrm rot="0">
            <a:off x="13033488" y="2163487"/>
            <a:ext cx="3847494" cy="1669766"/>
            <a:chOff x="0" y="0"/>
            <a:chExt cx="5129992" cy="2226355"/>
          </a:xfrm>
        </p:grpSpPr>
        <p:sp>
          <p:nvSpPr>
            <p:cNvPr name="AutoShape 15" id="15"/>
            <p:cNvSpPr/>
            <p:nvPr/>
          </p:nvSpPr>
          <p:spPr>
            <a:xfrm>
              <a:off x="0" y="11324"/>
              <a:ext cx="5129992" cy="0"/>
            </a:xfrm>
            <a:prstGeom prst="line">
              <a:avLst/>
            </a:prstGeom>
            <a:ln cap="flat" w="22649">
              <a:solidFill>
                <a:srgbClr val="2F4F4F"/>
              </a:solidFill>
              <a:prstDash val="solid"/>
              <a:headEnd type="none" len="sm" w="sm"/>
              <a:tailEnd type="none" len="sm" w="sm"/>
            </a:ln>
          </p:spPr>
        </p:sp>
        <p:sp>
          <p:nvSpPr>
            <p:cNvPr name="TextBox 16" id="16"/>
            <p:cNvSpPr txBox="true"/>
            <p:nvPr/>
          </p:nvSpPr>
          <p:spPr>
            <a:xfrm rot="0">
              <a:off x="0" y="1388073"/>
              <a:ext cx="5129992" cy="838282"/>
            </a:xfrm>
            <a:prstGeom prst="rect">
              <a:avLst/>
            </a:prstGeom>
          </p:spPr>
          <p:txBody>
            <a:bodyPr anchor="t" rtlCol="false" tIns="0" lIns="0" bIns="0" rIns="0">
              <a:spAutoFit/>
            </a:bodyPr>
            <a:lstStyle/>
            <a:p>
              <a:pPr algn="l">
                <a:lnSpc>
                  <a:spcPts val="2621"/>
                </a:lnSpc>
              </a:pPr>
              <a:r>
                <a:rPr lang="en-US" sz="1872">
                  <a:solidFill>
                    <a:srgbClr val="CCE2F3"/>
                  </a:solidFill>
                  <a:latin typeface="TT Interphases"/>
                  <a:ea typeface="TT Interphases"/>
                  <a:cs typeface="TT Interphases"/>
                  <a:sym typeface="TT Interphases"/>
                </a:rPr>
                <a:t>Backend Operations</a:t>
              </a:r>
            </a:p>
            <a:p>
              <a:pPr algn="l" marL="0" indent="0" lvl="0">
                <a:lnSpc>
                  <a:spcPts val="2621"/>
                </a:lnSpc>
              </a:pPr>
              <a:r>
                <a:rPr lang="en-US" sz="1872">
                  <a:solidFill>
                    <a:srgbClr val="CCE2F3"/>
                  </a:solidFill>
                  <a:latin typeface="TT Interphases"/>
                  <a:ea typeface="TT Interphases"/>
                  <a:cs typeface="TT Interphases"/>
                  <a:sym typeface="TT Interphases"/>
                </a:rPr>
                <a:t>Indicators Table</a:t>
              </a:r>
            </a:p>
          </p:txBody>
        </p:sp>
        <p:sp>
          <p:nvSpPr>
            <p:cNvPr name="TextBox 17" id="17"/>
            <p:cNvSpPr txBox="true"/>
            <p:nvPr/>
          </p:nvSpPr>
          <p:spPr>
            <a:xfrm rot="0">
              <a:off x="0" y="552697"/>
              <a:ext cx="5129992" cy="520152"/>
            </a:xfrm>
            <a:prstGeom prst="rect">
              <a:avLst/>
            </a:prstGeom>
          </p:spPr>
          <p:txBody>
            <a:bodyPr anchor="t" rtlCol="false" tIns="0" lIns="0" bIns="0" rIns="0">
              <a:spAutoFit/>
            </a:bodyPr>
            <a:lstStyle/>
            <a:p>
              <a:pPr algn="l" marL="0" indent="0" lvl="0">
                <a:lnSpc>
                  <a:spcPts val="2996"/>
                </a:lnSpc>
              </a:pPr>
              <a:r>
                <a:rPr lang="en-US" b="true" sz="2853">
                  <a:solidFill>
                    <a:srgbClr val="38B6FF"/>
                  </a:solidFill>
                  <a:latin typeface="Antonio Bold"/>
                  <a:ea typeface="Antonio Bold"/>
                  <a:cs typeface="Antonio Bold"/>
                  <a:sym typeface="Antonio Bold"/>
                </a:rPr>
                <a:t>Ahmet Yusuf Kurukız</a:t>
              </a:r>
            </a:p>
          </p:txBody>
        </p:sp>
      </p:grpSp>
      <p:grpSp>
        <p:nvGrpSpPr>
          <p:cNvPr name="Group 18" id="18"/>
          <p:cNvGrpSpPr/>
          <p:nvPr/>
        </p:nvGrpSpPr>
        <p:grpSpPr>
          <a:xfrm rot="0">
            <a:off x="3499657" y="7504317"/>
            <a:ext cx="3847494" cy="1669766"/>
            <a:chOff x="0" y="0"/>
            <a:chExt cx="5129992" cy="2226355"/>
          </a:xfrm>
        </p:grpSpPr>
        <p:sp>
          <p:nvSpPr>
            <p:cNvPr name="AutoShape 19" id="19"/>
            <p:cNvSpPr/>
            <p:nvPr/>
          </p:nvSpPr>
          <p:spPr>
            <a:xfrm flipV="true">
              <a:off x="0" y="11324"/>
              <a:ext cx="5129992" cy="0"/>
            </a:xfrm>
            <a:prstGeom prst="line">
              <a:avLst/>
            </a:prstGeom>
            <a:ln cap="flat" w="22649">
              <a:solidFill>
                <a:srgbClr val="2F4F4F"/>
              </a:solidFill>
              <a:prstDash val="solid"/>
              <a:headEnd type="none" len="sm" w="sm"/>
              <a:tailEnd type="none" len="sm" w="sm"/>
            </a:ln>
          </p:spPr>
        </p:sp>
        <p:sp>
          <p:nvSpPr>
            <p:cNvPr name="TextBox 20" id="20"/>
            <p:cNvSpPr txBox="true"/>
            <p:nvPr/>
          </p:nvSpPr>
          <p:spPr>
            <a:xfrm rot="0">
              <a:off x="0" y="1388073"/>
              <a:ext cx="5129992" cy="838282"/>
            </a:xfrm>
            <a:prstGeom prst="rect">
              <a:avLst/>
            </a:prstGeom>
          </p:spPr>
          <p:txBody>
            <a:bodyPr anchor="t" rtlCol="false" tIns="0" lIns="0" bIns="0" rIns="0">
              <a:spAutoFit/>
            </a:bodyPr>
            <a:lstStyle/>
            <a:p>
              <a:pPr algn="l">
                <a:lnSpc>
                  <a:spcPts val="2621"/>
                </a:lnSpc>
              </a:pPr>
              <a:r>
                <a:rPr lang="en-US" sz="1872">
                  <a:solidFill>
                    <a:srgbClr val="CCE2F3"/>
                  </a:solidFill>
                  <a:latin typeface="TT Interphases"/>
                  <a:ea typeface="TT Interphases"/>
                  <a:cs typeface="TT Interphases"/>
                  <a:sym typeface="TT Interphases"/>
                </a:rPr>
                <a:t>Database Management, </a:t>
              </a:r>
            </a:p>
            <a:p>
              <a:pPr algn="l" marL="0" indent="0" lvl="0">
                <a:lnSpc>
                  <a:spcPts val="2621"/>
                </a:lnSpc>
              </a:pPr>
              <a:r>
                <a:rPr lang="en-US" sz="1872">
                  <a:solidFill>
                    <a:srgbClr val="CCE2F3"/>
                  </a:solidFill>
                  <a:latin typeface="TT Interphases"/>
                  <a:ea typeface="TT Interphases"/>
                  <a:cs typeface="TT Interphases"/>
                  <a:sym typeface="TT Interphases"/>
                </a:rPr>
                <a:t>Health Indicators Table</a:t>
              </a:r>
            </a:p>
          </p:txBody>
        </p:sp>
        <p:sp>
          <p:nvSpPr>
            <p:cNvPr name="TextBox 21" id="21"/>
            <p:cNvSpPr txBox="true"/>
            <p:nvPr/>
          </p:nvSpPr>
          <p:spPr>
            <a:xfrm rot="0">
              <a:off x="0" y="552697"/>
              <a:ext cx="5129992" cy="520152"/>
            </a:xfrm>
            <a:prstGeom prst="rect">
              <a:avLst/>
            </a:prstGeom>
          </p:spPr>
          <p:txBody>
            <a:bodyPr anchor="t" rtlCol="false" tIns="0" lIns="0" bIns="0" rIns="0">
              <a:spAutoFit/>
            </a:bodyPr>
            <a:lstStyle/>
            <a:p>
              <a:pPr algn="l" marL="0" indent="0" lvl="0">
                <a:lnSpc>
                  <a:spcPts val="2996"/>
                </a:lnSpc>
              </a:pPr>
              <a:r>
                <a:rPr lang="en-US" b="true" sz="2853">
                  <a:solidFill>
                    <a:srgbClr val="38B6FF"/>
                  </a:solidFill>
                  <a:latin typeface="Antonio Bold"/>
                  <a:ea typeface="Antonio Bold"/>
                  <a:cs typeface="Antonio Bold"/>
                  <a:sym typeface="Antonio Bold"/>
                </a:rPr>
                <a:t>Yunus Korkmaz</a:t>
              </a:r>
            </a:p>
          </p:txBody>
        </p:sp>
      </p:grpSp>
      <p:grpSp>
        <p:nvGrpSpPr>
          <p:cNvPr name="Group 22" id="22"/>
          <p:cNvGrpSpPr/>
          <p:nvPr/>
        </p:nvGrpSpPr>
        <p:grpSpPr>
          <a:xfrm rot="0">
            <a:off x="1028700" y="4828933"/>
            <a:ext cx="2111694" cy="211169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8243" r="0" b="-16366"/>
              </a:stretch>
            </a:blipFill>
          </p:spPr>
        </p:sp>
      </p:grpSp>
      <p:grpSp>
        <p:nvGrpSpPr>
          <p:cNvPr name="Group 24" id="24"/>
          <p:cNvGrpSpPr/>
          <p:nvPr/>
        </p:nvGrpSpPr>
        <p:grpSpPr>
          <a:xfrm rot="0">
            <a:off x="10394281" y="5552461"/>
            <a:ext cx="2111694" cy="211169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8309" t="0" r="-32934" b="-128324"/>
              </a:stretch>
            </a:blipFill>
          </p:spPr>
        </p:sp>
      </p:grpSp>
      <p:grpSp>
        <p:nvGrpSpPr>
          <p:cNvPr name="Group 26" id="26"/>
          <p:cNvGrpSpPr/>
          <p:nvPr/>
        </p:nvGrpSpPr>
        <p:grpSpPr>
          <a:xfrm rot="0">
            <a:off x="10394281" y="2163487"/>
            <a:ext cx="2111694" cy="211169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9196" r="0" b="-9196"/>
              </a:stretch>
            </a:blipFill>
          </p:spPr>
        </p:sp>
      </p:grpSp>
      <p:grpSp>
        <p:nvGrpSpPr>
          <p:cNvPr name="Group 28" id="28"/>
          <p:cNvGrpSpPr/>
          <p:nvPr/>
        </p:nvGrpSpPr>
        <p:grpSpPr>
          <a:xfrm rot="0">
            <a:off x="1028700" y="7504317"/>
            <a:ext cx="2111694" cy="211169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0304" t="-18548" r="-9274" b="-1030"/>
              </a:stretch>
            </a:blipFill>
          </p:spPr>
        </p:sp>
      </p:grpSp>
      <p:grpSp>
        <p:nvGrpSpPr>
          <p:cNvPr name="Group 30" id="30"/>
          <p:cNvGrpSpPr/>
          <p:nvPr/>
        </p:nvGrpSpPr>
        <p:grpSpPr>
          <a:xfrm rot="0">
            <a:off x="1028700" y="2153549"/>
            <a:ext cx="2111694" cy="211169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17001" r="0" b="-17001"/>
              </a:stretch>
            </a:blipFill>
          </p:spPr>
        </p:sp>
      </p:grpSp>
      <p:sp>
        <p:nvSpPr>
          <p:cNvPr name="TextBox 32" id="32"/>
          <p:cNvSpPr txBox="true"/>
          <p:nvPr/>
        </p:nvSpPr>
        <p:spPr>
          <a:xfrm rot="0">
            <a:off x="666750" y="733425"/>
            <a:ext cx="7125923" cy="1024890"/>
          </a:xfrm>
          <a:prstGeom prst="rect">
            <a:avLst/>
          </a:prstGeom>
        </p:spPr>
        <p:txBody>
          <a:bodyPr anchor="t" rtlCol="false" tIns="0" lIns="0" bIns="0" rIns="0">
            <a:spAutoFit/>
          </a:bodyPr>
          <a:lstStyle/>
          <a:p>
            <a:pPr algn="l" marL="0" indent="0" lvl="0">
              <a:lnSpc>
                <a:spcPts val="7920"/>
              </a:lnSpc>
              <a:spcBef>
                <a:spcPct val="0"/>
              </a:spcBef>
            </a:pPr>
            <a:r>
              <a:rPr lang="en-US" b="true" sz="7200">
                <a:solidFill>
                  <a:srgbClr val="38B6FF"/>
                </a:solidFill>
                <a:latin typeface="Antonio Bold"/>
                <a:ea typeface="Antonio Bold"/>
                <a:cs typeface="Antonio Bold"/>
                <a:sym typeface="Antonio Bold"/>
              </a:rPr>
              <a:t>Team 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519062" y="2246118"/>
            <a:ext cx="13249876" cy="7464548"/>
            <a:chOff x="0" y="0"/>
            <a:chExt cx="1025117" cy="577518"/>
          </a:xfrm>
        </p:grpSpPr>
        <p:sp>
          <p:nvSpPr>
            <p:cNvPr name="Freeform 3" id="3"/>
            <p:cNvSpPr/>
            <p:nvPr/>
          </p:nvSpPr>
          <p:spPr>
            <a:xfrm flipH="false" flipV="false" rot="0">
              <a:off x="0" y="0"/>
              <a:ext cx="1025117" cy="577518"/>
            </a:xfrm>
            <a:custGeom>
              <a:avLst/>
              <a:gdLst/>
              <a:ahLst/>
              <a:cxnLst/>
              <a:rect r="r" b="b" t="t" l="l"/>
              <a:pathLst>
                <a:path h="577518" w="1025117">
                  <a:moveTo>
                    <a:pt x="0" y="0"/>
                  </a:moveTo>
                  <a:lnTo>
                    <a:pt x="1025117" y="0"/>
                  </a:lnTo>
                  <a:lnTo>
                    <a:pt x="1025117" y="577518"/>
                  </a:lnTo>
                  <a:lnTo>
                    <a:pt x="0" y="577518"/>
                  </a:lnTo>
                  <a:close/>
                </a:path>
              </a:pathLst>
            </a:custGeom>
            <a:blipFill>
              <a:blip r:embed="rId2"/>
              <a:stretch>
                <a:fillRect l="-1215" t="0" r="-1215" b="0"/>
              </a:stretch>
            </a:blipFill>
          </p:spPr>
        </p:sp>
      </p:grpSp>
      <p:sp>
        <p:nvSpPr>
          <p:cNvPr name="TextBox 4" id="4"/>
          <p:cNvSpPr txBox="true"/>
          <p:nvPr/>
        </p:nvSpPr>
        <p:spPr>
          <a:xfrm rot="0">
            <a:off x="7411603" y="733425"/>
            <a:ext cx="3464794" cy="1024890"/>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Overview</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103796" y="1095375"/>
            <a:ext cx="8477250" cy="1024890"/>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Motivation and Goals</a:t>
            </a:r>
          </a:p>
        </p:txBody>
      </p:sp>
      <p:sp>
        <p:nvSpPr>
          <p:cNvPr name="TextBox 3" id="3"/>
          <p:cNvSpPr txBox="true"/>
          <p:nvPr/>
        </p:nvSpPr>
        <p:spPr>
          <a:xfrm rot="0">
            <a:off x="728664" y="4102420"/>
            <a:ext cx="8057879" cy="34893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D</a:t>
            </a:r>
            <a:r>
              <a:rPr lang="en-US" b="true" sz="2499">
                <a:solidFill>
                  <a:srgbClr val="CCE2F3"/>
                </a:solidFill>
                <a:latin typeface="TT Interphases Bold"/>
                <a:ea typeface="TT Interphases Bold"/>
                <a:cs typeface="TT Interphases Bold"/>
                <a:sym typeface="TT Interphases Bold"/>
              </a:rPr>
              <a:t>ata Fragmentation: </a:t>
            </a:r>
            <a:r>
              <a:rPr lang="en-US" sz="2499">
                <a:solidFill>
                  <a:srgbClr val="CCE2F3"/>
                </a:solidFill>
                <a:latin typeface="TT Interphases"/>
                <a:ea typeface="TT Interphases"/>
                <a:cs typeface="TT Interphases"/>
                <a:sym typeface="TT Interphases"/>
              </a:rPr>
              <a:t>Critical global data is scattered across disparate sources (World Bank, WHO, UNESCO), mak</a:t>
            </a:r>
            <a:r>
              <a:rPr lang="en-US" sz="2499">
                <a:solidFill>
                  <a:srgbClr val="CCE2F3"/>
                </a:solidFill>
                <a:latin typeface="TT Interphases"/>
                <a:ea typeface="TT Interphases"/>
                <a:cs typeface="TT Interphases"/>
                <a:sym typeface="TT Interphases"/>
              </a:rPr>
              <a:t>ing cross-doma</a:t>
            </a:r>
            <a:r>
              <a:rPr lang="en-US" sz="2499">
                <a:solidFill>
                  <a:srgbClr val="CCE2F3"/>
                </a:solidFill>
                <a:latin typeface="TT Interphases"/>
                <a:ea typeface="TT Interphases"/>
                <a:cs typeface="TT Interphases"/>
                <a:sym typeface="TT Interphases"/>
              </a:rPr>
              <a:t>in analysis impossible</a:t>
            </a: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Redundancy:</a:t>
            </a:r>
            <a:r>
              <a:rPr lang="en-US" sz="2499">
                <a:solidFill>
                  <a:srgbClr val="CCE2F3"/>
                </a:solidFill>
                <a:latin typeface="TT Interphases"/>
                <a:ea typeface="TT Interphases"/>
                <a:cs typeface="TT Interphases"/>
                <a:sym typeface="TT Interphases"/>
              </a:rPr>
              <a:t> Traditional flat-file storage leads to massive data duplication and update anomalies.</a:t>
            </a:r>
          </a:p>
          <a:p>
            <a:pPr algn="l">
              <a:lnSpc>
                <a:spcPts val="3499"/>
              </a:lnSpc>
            </a:pPr>
          </a:p>
          <a:p>
            <a:pPr algn="l" marL="0" indent="0" lvl="0">
              <a:lnSpc>
                <a:spcPts val="3499"/>
              </a:lnSpc>
            </a:pPr>
          </a:p>
          <a:p>
            <a:pPr algn="l" marL="0" indent="0" lvl="0">
              <a:lnSpc>
                <a:spcPts val="3499"/>
              </a:lnSpc>
            </a:pPr>
          </a:p>
        </p:txBody>
      </p:sp>
      <p:sp>
        <p:nvSpPr>
          <p:cNvPr name="TextBox 4" id="4"/>
          <p:cNvSpPr txBox="true"/>
          <p:nvPr/>
        </p:nvSpPr>
        <p:spPr>
          <a:xfrm rot="0">
            <a:off x="10624858" y="3754803"/>
            <a:ext cx="6476551" cy="52419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FF3131"/>
                </a:solidFill>
                <a:latin typeface="TT Interphases Bold"/>
                <a:ea typeface="TT Interphases Bold"/>
                <a:cs typeface="TT Interphases Bold"/>
                <a:sym typeface="TT Interphases Bold"/>
              </a:rPr>
              <a:t>Normalization</a:t>
            </a:r>
            <a:r>
              <a:rPr lang="en-US" b="true" sz="2499">
                <a:solidFill>
                  <a:srgbClr val="FF3131"/>
                </a:solidFill>
                <a:latin typeface="TT Interphases Bold"/>
                <a:ea typeface="TT Interphases Bold"/>
                <a:cs typeface="TT Interphases Bold"/>
                <a:sym typeface="TT Interphases Bold"/>
              </a:rPr>
              <a:t>: </a:t>
            </a:r>
            <a:r>
              <a:rPr lang="en-US" sz="2499">
                <a:solidFill>
                  <a:srgbClr val="FF3131"/>
                </a:solidFill>
                <a:latin typeface="TT Interphases"/>
                <a:ea typeface="TT Interphases"/>
                <a:cs typeface="TT Interphases"/>
                <a:sym typeface="TT Interphases"/>
              </a:rPr>
              <a:t>To design a 3NF schema that ensures dat</a:t>
            </a:r>
            <a:r>
              <a:rPr lang="en-US" sz="2499">
                <a:solidFill>
                  <a:srgbClr val="FF3131"/>
                </a:solidFill>
                <a:latin typeface="TT Interphases"/>
                <a:ea typeface="TT Interphases"/>
                <a:cs typeface="TT Interphases"/>
                <a:sym typeface="TT Interphases"/>
              </a:rPr>
              <a:t>a c</a:t>
            </a:r>
            <a:r>
              <a:rPr lang="en-US" sz="2499">
                <a:solidFill>
                  <a:srgbClr val="FF3131"/>
                </a:solidFill>
                <a:latin typeface="TT Interphases"/>
                <a:ea typeface="TT Interphases"/>
                <a:cs typeface="TT Interphases"/>
                <a:sym typeface="TT Interphases"/>
              </a:rPr>
              <a:t>onsistency</a:t>
            </a: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Security:</a:t>
            </a:r>
            <a:r>
              <a:rPr lang="en-US" sz="2499">
                <a:solidFill>
                  <a:srgbClr val="CCE2F3"/>
                </a:solidFill>
                <a:latin typeface="TT Interphases"/>
                <a:ea typeface="TT Interphases"/>
                <a:cs typeface="TT Interphases"/>
                <a:sym typeface="TT Interphases"/>
              </a:rPr>
              <a:t> To implement a "Strict Admin Approval System" where new users must be explicitly approved by an Admin before accessing the data</a:t>
            </a: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Insight</a:t>
            </a:r>
            <a:r>
              <a:rPr lang="en-US" b="true" sz="2499">
                <a:solidFill>
                  <a:srgbClr val="CCE2F3"/>
                </a:solidFill>
                <a:latin typeface="TT Interphases Bold"/>
                <a:ea typeface="TT Interphases Bold"/>
                <a:cs typeface="TT Interphases Bold"/>
                <a:sym typeface="TT Interphases Bold"/>
              </a:rPr>
              <a:t>: </a:t>
            </a:r>
            <a:r>
              <a:rPr lang="en-US" sz="2499">
                <a:solidFill>
                  <a:srgbClr val="CCE2F3"/>
                </a:solidFill>
                <a:latin typeface="TT Interphases"/>
                <a:ea typeface="TT Interphases"/>
                <a:cs typeface="TT Interphases"/>
                <a:sym typeface="TT Interphases"/>
              </a:rPr>
              <a:t>To transform raw static data into dynamic, comparative time-series visualizations</a:t>
            </a:r>
          </a:p>
          <a:p>
            <a:pPr algn="l" marL="0" indent="0" lvl="0">
              <a:lnSpc>
                <a:spcPts val="3499"/>
              </a:lnSpc>
            </a:pPr>
          </a:p>
          <a:p>
            <a:pPr algn="l" marL="0" indent="0" lvl="0">
              <a:lnSpc>
                <a:spcPts val="3499"/>
              </a:lnSpc>
            </a:pPr>
          </a:p>
          <a:p>
            <a:pPr algn="l" marL="0" indent="0" lvl="0">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Freeform 4" id="4"/>
          <p:cNvSpPr/>
          <p:nvPr/>
        </p:nvSpPr>
        <p:spPr>
          <a:xfrm flipH="false" flipV="false" rot="-5400000">
            <a:off x="6188973" y="-1812027"/>
            <a:ext cx="10287000" cy="13911055"/>
          </a:xfrm>
          <a:custGeom>
            <a:avLst/>
            <a:gdLst/>
            <a:ahLst/>
            <a:cxnLst/>
            <a:rect r="r" b="b" t="t" l="l"/>
            <a:pathLst>
              <a:path h="13911055" w="10287000">
                <a:moveTo>
                  <a:pt x="0" y="0"/>
                </a:moveTo>
                <a:lnTo>
                  <a:pt x="10287000" y="0"/>
                </a:lnTo>
                <a:lnTo>
                  <a:pt x="10287000" y="13911054"/>
                </a:lnTo>
                <a:lnTo>
                  <a:pt x="0" y="13911054"/>
                </a:lnTo>
                <a:lnTo>
                  <a:pt x="0" y="0"/>
                </a:lnTo>
                <a:close/>
              </a:path>
            </a:pathLst>
          </a:custGeom>
          <a:blipFill>
            <a:blip r:embed="rId3"/>
            <a:stretch>
              <a:fillRect l="-4394" t="0" r="-239" b="0"/>
            </a:stretch>
          </a:blipFill>
        </p:spPr>
      </p:sp>
      <p:sp>
        <p:nvSpPr>
          <p:cNvPr name="TextBox 5" id="5"/>
          <p:cNvSpPr txBox="true"/>
          <p:nvPr/>
        </p:nvSpPr>
        <p:spPr>
          <a:xfrm rot="0">
            <a:off x="666750" y="733425"/>
            <a:ext cx="6886575" cy="1024890"/>
          </a:xfrm>
          <a:prstGeom prst="rect">
            <a:avLst/>
          </a:prstGeom>
        </p:spPr>
        <p:txBody>
          <a:bodyPr anchor="t" rtlCol="false" tIns="0" lIns="0" bIns="0" rIns="0">
            <a:spAutoFit/>
          </a:bodyPr>
          <a:lstStyle/>
          <a:p>
            <a:pPr algn="l" marL="0" indent="0" lvl="0">
              <a:lnSpc>
                <a:spcPts val="7920"/>
              </a:lnSpc>
            </a:pPr>
            <a:r>
              <a:rPr lang="en-US" sz="7200">
                <a:solidFill>
                  <a:srgbClr val="38B6FF"/>
                </a:solidFill>
                <a:latin typeface="Antonio Light"/>
                <a:ea typeface="Antonio Light"/>
                <a:cs typeface="Antonio Light"/>
                <a:sym typeface="Antonio Light"/>
              </a:rPr>
              <a:t>ER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991600" y="0"/>
            <a:ext cx="9296400" cy="10287000"/>
            <a:chOff x="0" y="0"/>
            <a:chExt cx="957635" cy="1059678"/>
          </a:xfrm>
        </p:grpSpPr>
        <p:sp>
          <p:nvSpPr>
            <p:cNvPr name="Freeform 3" id="3"/>
            <p:cNvSpPr/>
            <p:nvPr/>
          </p:nvSpPr>
          <p:spPr>
            <a:xfrm flipH="false" flipV="false" rot="0">
              <a:off x="0" y="0"/>
              <a:ext cx="957635" cy="1059678"/>
            </a:xfrm>
            <a:custGeom>
              <a:avLst/>
              <a:gdLst/>
              <a:ahLst/>
              <a:cxnLst/>
              <a:rect r="r" b="b" t="t" l="l"/>
              <a:pathLst>
                <a:path h="1059678" w="957635">
                  <a:moveTo>
                    <a:pt x="0" y="0"/>
                  </a:moveTo>
                  <a:lnTo>
                    <a:pt x="957635" y="0"/>
                  </a:lnTo>
                  <a:lnTo>
                    <a:pt x="957635" y="1059678"/>
                  </a:lnTo>
                  <a:lnTo>
                    <a:pt x="0" y="1059678"/>
                  </a:lnTo>
                  <a:close/>
                </a:path>
              </a:pathLst>
            </a:custGeom>
            <a:blipFill>
              <a:blip r:embed="rId2"/>
              <a:stretch>
                <a:fillRect l="-801" t="0" r="-801" b="0"/>
              </a:stretch>
            </a:blipFill>
          </p:spPr>
        </p:sp>
      </p:grpSp>
      <p:sp>
        <p:nvSpPr>
          <p:cNvPr name="Freeform 4" id="4"/>
          <p:cNvSpPr/>
          <p:nvPr/>
        </p:nvSpPr>
        <p:spPr>
          <a:xfrm flipH="false" flipV="false" rot="-5400000">
            <a:off x="1252305" y="2707214"/>
            <a:ext cx="5715464" cy="7386707"/>
          </a:xfrm>
          <a:custGeom>
            <a:avLst/>
            <a:gdLst/>
            <a:ahLst/>
            <a:cxnLst/>
            <a:rect r="r" b="b" t="t" l="l"/>
            <a:pathLst>
              <a:path h="7386707" w="5715464">
                <a:moveTo>
                  <a:pt x="0" y="0"/>
                </a:moveTo>
                <a:lnTo>
                  <a:pt x="5715465" y="0"/>
                </a:lnTo>
                <a:lnTo>
                  <a:pt x="5715465" y="7386707"/>
                </a:lnTo>
                <a:lnTo>
                  <a:pt x="0" y="7386707"/>
                </a:lnTo>
                <a:lnTo>
                  <a:pt x="0" y="0"/>
                </a:lnTo>
                <a:close/>
              </a:path>
            </a:pathLst>
          </a:custGeom>
          <a:blipFill>
            <a:blip r:embed="rId3"/>
            <a:stretch>
              <a:fillRect l="0" t="0" r="0" b="0"/>
            </a:stretch>
          </a:blipFill>
        </p:spPr>
      </p:sp>
      <p:sp>
        <p:nvSpPr>
          <p:cNvPr name="TextBox 5" id="5"/>
          <p:cNvSpPr txBox="true"/>
          <p:nvPr/>
        </p:nvSpPr>
        <p:spPr>
          <a:xfrm rot="0">
            <a:off x="666750" y="733425"/>
            <a:ext cx="6886575" cy="2025015"/>
          </a:xfrm>
          <a:prstGeom prst="rect">
            <a:avLst/>
          </a:prstGeom>
        </p:spPr>
        <p:txBody>
          <a:bodyPr anchor="t" rtlCol="false" tIns="0" lIns="0" bIns="0" rIns="0">
            <a:spAutoFit/>
          </a:bodyPr>
          <a:lstStyle/>
          <a:p>
            <a:pPr algn="l" marL="0" indent="0" lvl="0">
              <a:lnSpc>
                <a:spcPts val="7920"/>
              </a:lnSpc>
            </a:pPr>
            <a:r>
              <a:rPr lang="en-US" sz="7200">
                <a:solidFill>
                  <a:srgbClr val="38B6FF"/>
                </a:solidFill>
                <a:latin typeface="Antonio Light"/>
                <a:ea typeface="Antonio Light"/>
                <a:cs typeface="Antonio Light"/>
                <a:sym typeface="Antonio Light"/>
              </a:rPr>
              <a:t>ER-to-Relational Mapping:</a:t>
            </a:r>
            <a:r>
              <a:rPr lang="en-US" sz="7200">
                <a:solidFill>
                  <a:srgbClr val="38B6FF"/>
                </a:solidFill>
                <a:latin typeface="Antonio Light"/>
                <a:ea typeface="Antonio Light"/>
                <a:cs typeface="Antonio Light"/>
                <a:sym typeface="Antonio Light"/>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899595" y="1141535"/>
            <a:ext cx="10388405" cy="9145465"/>
            <a:chOff x="0" y="0"/>
            <a:chExt cx="1070124" cy="942087"/>
          </a:xfrm>
        </p:grpSpPr>
        <p:sp>
          <p:nvSpPr>
            <p:cNvPr name="Freeform 3" id="3"/>
            <p:cNvSpPr/>
            <p:nvPr/>
          </p:nvSpPr>
          <p:spPr>
            <a:xfrm flipH="false" flipV="false" rot="0">
              <a:off x="0" y="0"/>
              <a:ext cx="1070124" cy="942087"/>
            </a:xfrm>
            <a:custGeom>
              <a:avLst/>
              <a:gdLst/>
              <a:ahLst/>
              <a:cxnLst/>
              <a:rect r="r" b="b" t="t" l="l"/>
              <a:pathLst>
                <a:path h="942087" w="1070124">
                  <a:moveTo>
                    <a:pt x="0" y="0"/>
                  </a:moveTo>
                  <a:lnTo>
                    <a:pt x="1070124" y="0"/>
                  </a:lnTo>
                  <a:lnTo>
                    <a:pt x="1070124" y="942087"/>
                  </a:lnTo>
                  <a:lnTo>
                    <a:pt x="0" y="942087"/>
                  </a:lnTo>
                  <a:close/>
                </a:path>
              </a:pathLst>
            </a:custGeom>
            <a:blipFill>
              <a:blip r:embed="rId2"/>
              <a:stretch>
                <a:fillRect l="-19107" t="-2049" r="-19107" b="0"/>
              </a:stretch>
            </a:blipFill>
          </p:spPr>
        </p:sp>
      </p:grpSp>
      <p:sp>
        <p:nvSpPr>
          <p:cNvPr name="TextBox 4" id="4"/>
          <p:cNvSpPr txBox="true"/>
          <p:nvPr/>
        </p:nvSpPr>
        <p:spPr>
          <a:xfrm rot="0">
            <a:off x="666750" y="733425"/>
            <a:ext cx="6886575" cy="2025015"/>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Before Normalization</a:t>
            </a:r>
          </a:p>
        </p:txBody>
      </p:sp>
      <p:sp>
        <p:nvSpPr>
          <p:cNvPr name="TextBox 5" id="5"/>
          <p:cNvSpPr txBox="true"/>
          <p:nvPr/>
        </p:nvSpPr>
        <p:spPr>
          <a:xfrm rot="0">
            <a:off x="666750" y="6130290"/>
            <a:ext cx="6886575" cy="2594610"/>
          </a:xfrm>
          <a:prstGeom prst="rect">
            <a:avLst/>
          </a:prstGeom>
        </p:spPr>
        <p:txBody>
          <a:bodyPr anchor="t" rtlCol="false" tIns="0" lIns="0" bIns="0" rIns="0">
            <a:spAutoFit/>
          </a:bodyPr>
          <a:lstStyle/>
          <a:p>
            <a:pPr algn="l">
              <a:lnSpc>
                <a:spcPts val="2940"/>
              </a:lnSpc>
            </a:pPr>
            <a:r>
              <a:rPr lang="en-US" sz="2100">
                <a:solidFill>
                  <a:srgbClr val="CCE2F3"/>
                </a:solidFill>
                <a:latin typeface="TT Interphases"/>
                <a:ea typeface="TT Interphases"/>
                <a:cs typeface="TT Interphases"/>
                <a:sym typeface="TT Interphases"/>
              </a:rPr>
              <a:t>Before Normalization: Raw JSON</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Input: Raw API response in nested format.</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Redundancy: Source details are duplicated in thousands of rows.</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Inefficiency: High storage cost and risk of update anomalies.</a:t>
            </a:r>
          </a:p>
          <a:p>
            <a:pPr algn="l" marL="0" indent="0" lvl="0">
              <a:lnSpc>
                <a:spcPts val="294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867100" y="1518540"/>
            <a:ext cx="8036464" cy="2769489"/>
          </a:xfrm>
          <a:custGeom>
            <a:avLst/>
            <a:gdLst/>
            <a:ahLst/>
            <a:cxnLst/>
            <a:rect r="r" b="b" t="t" l="l"/>
            <a:pathLst>
              <a:path h="2769489" w="8036464">
                <a:moveTo>
                  <a:pt x="0" y="0"/>
                </a:moveTo>
                <a:lnTo>
                  <a:pt x="8036464" y="0"/>
                </a:lnTo>
                <a:lnTo>
                  <a:pt x="8036464" y="2769489"/>
                </a:lnTo>
                <a:lnTo>
                  <a:pt x="0" y="2769489"/>
                </a:lnTo>
                <a:lnTo>
                  <a:pt x="0" y="0"/>
                </a:lnTo>
                <a:close/>
              </a:path>
            </a:pathLst>
          </a:custGeom>
          <a:blipFill>
            <a:blip r:embed="rId2"/>
            <a:stretch>
              <a:fillRect l="0" t="0" r="0" b="0"/>
            </a:stretch>
          </a:blipFill>
        </p:spPr>
      </p:sp>
      <p:sp>
        <p:nvSpPr>
          <p:cNvPr name="Freeform 3" id="3"/>
          <p:cNvSpPr/>
          <p:nvPr/>
        </p:nvSpPr>
        <p:spPr>
          <a:xfrm flipH="false" flipV="false" rot="0">
            <a:off x="8544702" y="5626920"/>
            <a:ext cx="9617199" cy="3363509"/>
          </a:xfrm>
          <a:custGeom>
            <a:avLst/>
            <a:gdLst/>
            <a:ahLst/>
            <a:cxnLst/>
            <a:rect r="r" b="b" t="t" l="l"/>
            <a:pathLst>
              <a:path h="3363509" w="9617199">
                <a:moveTo>
                  <a:pt x="0" y="0"/>
                </a:moveTo>
                <a:lnTo>
                  <a:pt x="9617199" y="0"/>
                </a:lnTo>
                <a:lnTo>
                  <a:pt x="9617199" y="3363510"/>
                </a:lnTo>
                <a:lnTo>
                  <a:pt x="0" y="3363510"/>
                </a:lnTo>
                <a:lnTo>
                  <a:pt x="0" y="0"/>
                </a:lnTo>
                <a:close/>
              </a:path>
            </a:pathLst>
          </a:custGeom>
          <a:blipFill>
            <a:blip r:embed="rId3"/>
            <a:stretch>
              <a:fillRect l="0" t="0" r="0" b="0"/>
            </a:stretch>
          </a:blipFill>
        </p:spPr>
      </p:sp>
      <p:sp>
        <p:nvSpPr>
          <p:cNvPr name="TextBox 4" id="4"/>
          <p:cNvSpPr txBox="true"/>
          <p:nvPr/>
        </p:nvSpPr>
        <p:spPr>
          <a:xfrm rot="0">
            <a:off x="666750" y="733425"/>
            <a:ext cx="6886575" cy="1024890"/>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Normalization</a:t>
            </a:r>
          </a:p>
        </p:txBody>
      </p:sp>
      <p:sp>
        <p:nvSpPr>
          <p:cNvPr name="TextBox 5" id="5"/>
          <p:cNvSpPr txBox="true"/>
          <p:nvPr/>
        </p:nvSpPr>
        <p:spPr>
          <a:xfrm rot="0">
            <a:off x="666750" y="3529965"/>
            <a:ext cx="6886575" cy="519493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ETL Approach: We used a Python script to Extract, Transform, and Load the data directly in 3NF structure.</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In-Memory De-duplication:</a:t>
            </a:r>
          </a:p>
          <a:p>
            <a:pPr algn="l" marL="906780" indent="-302260" lvl="2">
              <a:lnSpc>
                <a:spcPts val="2940"/>
              </a:lnSpc>
              <a:buFont typeface="Arial"/>
              <a:buChar char="⚬"/>
            </a:pPr>
            <a:r>
              <a:rPr lang="en-US" sz="2100">
                <a:solidFill>
                  <a:srgbClr val="CCE2F3"/>
                </a:solidFill>
                <a:latin typeface="TT Interphases"/>
                <a:ea typeface="TT Interphases"/>
                <a:cs typeface="TT Interphases"/>
                <a:sym typeface="TT Interphases"/>
              </a:rPr>
              <a:t>Utilized Python dictionaries (source_map) to identify and filter unique entries before database insertion.</a:t>
            </a:r>
          </a:p>
          <a:p>
            <a:pPr algn="l" marL="906780" indent="-302260" lvl="2">
              <a:lnSpc>
                <a:spcPts val="2940"/>
              </a:lnSpc>
              <a:buFont typeface="Arial"/>
              <a:buChar char="⚬"/>
            </a:pPr>
            <a:r>
              <a:rPr lang="en-US" sz="2100">
                <a:solidFill>
                  <a:srgbClr val="CCE2F3"/>
                </a:solidFill>
                <a:latin typeface="TT Interphases"/>
                <a:ea typeface="TT Interphases"/>
                <a:cs typeface="TT Interphases"/>
                <a:sym typeface="TT Interphases"/>
              </a:rPr>
              <a:t>Prevents duplicate records in Sources and Categories tables.</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Foreign Key Association:</a:t>
            </a:r>
          </a:p>
          <a:p>
            <a:pPr algn="l" marL="906780" indent="-302260" lvl="2">
              <a:lnSpc>
                <a:spcPts val="2940"/>
              </a:lnSpc>
              <a:buFont typeface="Arial"/>
              <a:buChar char="⚬"/>
            </a:pPr>
            <a:r>
              <a:rPr lang="en-US" sz="2100">
                <a:solidFill>
                  <a:srgbClr val="CCE2F3"/>
                </a:solidFill>
                <a:latin typeface="TT Interphases"/>
                <a:ea typeface="TT Interphases"/>
                <a:cs typeface="TT Interphases"/>
                <a:sym typeface="TT Interphases"/>
              </a:rPr>
              <a:t>The script retrieves the unique ID of the source/category.</a:t>
            </a:r>
          </a:p>
          <a:p>
            <a:pPr algn="l" marL="906780" indent="-302260" lvl="2">
              <a:lnSpc>
                <a:spcPts val="2940"/>
              </a:lnSpc>
              <a:buFont typeface="Arial"/>
              <a:buChar char="⚬"/>
            </a:pPr>
            <a:r>
              <a:rPr lang="en-US" sz="2100">
                <a:solidFill>
                  <a:srgbClr val="CCE2F3"/>
                </a:solidFill>
                <a:latin typeface="TT Interphases"/>
                <a:ea typeface="TT Interphases"/>
                <a:cs typeface="TT Interphases"/>
                <a:sym typeface="TT Interphases"/>
              </a:rPr>
              <a:t>Inserts only this Foreign Key (sid) into the main Indicators table, ensuring data integrity.</a:t>
            </a:r>
          </a:p>
          <a:p>
            <a:pPr algn="l" marL="0" indent="0" lvl="0">
              <a:lnSpc>
                <a:spcPts val="294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105196" y="2054609"/>
            <a:ext cx="9477132" cy="6177783"/>
            <a:chOff x="0" y="0"/>
            <a:chExt cx="1625617" cy="1059678"/>
          </a:xfrm>
        </p:grpSpPr>
        <p:sp>
          <p:nvSpPr>
            <p:cNvPr name="Freeform 3" id="3"/>
            <p:cNvSpPr/>
            <p:nvPr/>
          </p:nvSpPr>
          <p:spPr>
            <a:xfrm flipH="false" flipV="false" rot="0">
              <a:off x="0" y="0"/>
              <a:ext cx="1625617" cy="1059678"/>
            </a:xfrm>
            <a:custGeom>
              <a:avLst/>
              <a:gdLst/>
              <a:ahLst/>
              <a:cxnLst/>
              <a:rect r="r" b="b" t="t" l="l"/>
              <a:pathLst>
                <a:path h="1059678" w="1625617">
                  <a:moveTo>
                    <a:pt x="0" y="0"/>
                  </a:moveTo>
                  <a:lnTo>
                    <a:pt x="1625617" y="0"/>
                  </a:lnTo>
                  <a:lnTo>
                    <a:pt x="1625617" y="1059678"/>
                  </a:lnTo>
                  <a:lnTo>
                    <a:pt x="0" y="1059678"/>
                  </a:lnTo>
                  <a:close/>
                </a:path>
              </a:pathLst>
            </a:custGeom>
            <a:blipFill>
              <a:blip r:embed="rId2"/>
              <a:stretch>
                <a:fillRect l="-143" t="0" r="-143" b="0"/>
              </a:stretch>
            </a:blipFill>
          </p:spPr>
        </p:sp>
      </p:grpSp>
      <p:sp>
        <p:nvSpPr>
          <p:cNvPr name="TextBox 4" id="4"/>
          <p:cNvSpPr txBox="true"/>
          <p:nvPr/>
        </p:nvSpPr>
        <p:spPr>
          <a:xfrm rot="0">
            <a:off x="666750" y="733425"/>
            <a:ext cx="6886575" cy="2025015"/>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After Normalization</a:t>
            </a:r>
          </a:p>
        </p:txBody>
      </p:sp>
      <p:sp>
        <p:nvSpPr>
          <p:cNvPr name="TextBox 5" id="5"/>
          <p:cNvSpPr txBox="true"/>
          <p:nvPr/>
        </p:nvSpPr>
        <p:spPr>
          <a:xfrm rot="0">
            <a:off x="666750" y="3529965"/>
            <a:ext cx="6886575" cy="519493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Structured Data: The complex, nested JSON objects are now stored in relational tables (Indicators, Sources, Categories).</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Reference-Based Storage: The "Source" column is no longer a repeated text block. It is a Foreign Key reference to the Sources table.</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3NF Compliance:</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Transitive Dependencies Removed: Source details (organization name, description) are separated from the Indicator data.</a:t>
            </a:r>
          </a:p>
          <a:p>
            <a:pPr algn="l" marL="453390" indent="-226695" lvl="1">
              <a:lnSpc>
                <a:spcPts val="2940"/>
              </a:lnSpc>
              <a:buFont typeface="Arial"/>
              <a:buChar char="•"/>
            </a:pPr>
            <a:r>
              <a:rPr lang="en-US" sz="2100">
                <a:solidFill>
                  <a:srgbClr val="CCE2F3"/>
                </a:solidFill>
                <a:latin typeface="TT Interphases"/>
                <a:ea typeface="TT Interphases"/>
                <a:cs typeface="TT Interphases"/>
                <a:sym typeface="TT Interphases"/>
              </a:rPr>
              <a:t>Update Anomalies Eliminated: Updating a source's name in the Sources table automatically updates it for all associated indicators.</a:t>
            </a:r>
          </a:p>
          <a:p>
            <a:pPr algn="l" marL="0" indent="0" lvl="0">
              <a:lnSpc>
                <a:spcPts val="2940"/>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592428" y="1095375"/>
            <a:ext cx="7103143" cy="1024890"/>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Dataset D</a:t>
            </a:r>
            <a:r>
              <a:rPr lang="en-US" b="true" sz="7200">
                <a:solidFill>
                  <a:srgbClr val="38B6FF"/>
                </a:solidFill>
                <a:latin typeface="Antonio Bold"/>
                <a:ea typeface="Antonio Bold"/>
                <a:cs typeface="Antonio Bold"/>
                <a:sym typeface="Antonio Bold"/>
              </a:rPr>
              <a:t>escription</a:t>
            </a:r>
          </a:p>
        </p:txBody>
      </p:sp>
      <p:sp>
        <p:nvSpPr>
          <p:cNvPr name="TextBox 3" id="3"/>
          <p:cNvSpPr txBox="true"/>
          <p:nvPr/>
        </p:nvSpPr>
        <p:spPr>
          <a:xfrm rot="0">
            <a:off x="2842009" y="3157974"/>
            <a:ext cx="12603981" cy="5194935"/>
          </a:xfrm>
          <a:prstGeom prst="rect">
            <a:avLst/>
          </a:prstGeom>
        </p:spPr>
        <p:txBody>
          <a:bodyPr anchor="t" rtlCol="false" tIns="0" lIns="0" bIns="0" rIns="0">
            <a:spAutoFit/>
          </a:bodyPr>
          <a:lstStyle/>
          <a:p>
            <a:pPr algn="l" marL="0" indent="0" lvl="0">
              <a:lnSpc>
                <a:spcPts val="2940"/>
              </a:lnSpc>
            </a:pPr>
            <a:r>
              <a:rPr lang="en-US" b="true" sz="2100">
                <a:solidFill>
                  <a:srgbClr val="CCE2F3"/>
                </a:solidFill>
                <a:latin typeface="TT Interphases Bold"/>
                <a:ea typeface="TT Interphases Bold"/>
                <a:cs typeface="TT Interphases Bold"/>
                <a:sym typeface="TT Interphases Bold"/>
              </a:rPr>
              <a:t>What</a:t>
            </a:r>
            <a:r>
              <a:rPr lang="en-US" b="true" sz="2100">
                <a:solidFill>
                  <a:srgbClr val="CCE2F3"/>
                </a:solidFill>
                <a:latin typeface="TT Interphases Bold"/>
                <a:ea typeface="TT Interphases Bold"/>
                <a:cs typeface="TT Interphases Bold"/>
                <a:sym typeface="TT Interphases Bold"/>
              </a:rPr>
              <a:t> does the data include?:</a:t>
            </a:r>
            <a:r>
              <a:rPr lang="en-US" sz="2100">
                <a:solidFill>
                  <a:srgbClr val="CCE2F3"/>
                </a:solidFill>
                <a:latin typeface="TT Interphases"/>
                <a:ea typeface="TT Interphases"/>
                <a:cs typeface="TT Interphases"/>
                <a:sym typeface="TT Interphases"/>
              </a:rPr>
              <a:t> The dataset comprises time-series development metrics categorized into three core domains: Economy, Health, and Education. It covers global data for countries and regions, including variables such as GDP, Population, Life Expectancy, and School Enrollment rates.</a:t>
            </a:r>
          </a:p>
          <a:p>
            <a:pPr algn="l" marL="0" indent="0" lvl="0">
              <a:lnSpc>
                <a:spcPts val="2940"/>
              </a:lnSpc>
            </a:pPr>
          </a:p>
          <a:p>
            <a:pPr algn="l" marL="0" indent="0" lvl="0">
              <a:lnSpc>
                <a:spcPts val="2940"/>
              </a:lnSpc>
            </a:pPr>
            <a:r>
              <a:rPr lang="en-US" b="true" sz="2100">
                <a:solidFill>
                  <a:srgbClr val="CCE2F3"/>
                </a:solidFill>
                <a:latin typeface="TT Interphases Bold"/>
                <a:ea typeface="TT Interphases Bold"/>
                <a:cs typeface="TT Interphases Bold"/>
                <a:sym typeface="TT Interphases Bold"/>
              </a:rPr>
              <a:t>What is the source?:</a:t>
            </a:r>
            <a:r>
              <a:rPr lang="en-US" sz="2100">
                <a:solidFill>
                  <a:srgbClr val="CCE2F3"/>
                </a:solidFill>
                <a:latin typeface="TT Interphases"/>
                <a:ea typeface="TT Interphases"/>
                <a:cs typeface="TT Interphases"/>
                <a:sym typeface="TT Interphases"/>
              </a:rPr>
              <a:t> The primary source is the World Development Indicators (WDI) database managed by the World Bank. We utilized the official WDI API and bulk CSV exports to ensure data accuracy and reliability.</a:t>
            </a:r>
          </a:p>
          <a:p>
            <a:pPr algn="l" marL="0" indent="0" lvl="0">
              <a:lnSpc>
                <a:spcPts val="2940"/>
              </a:lnSpc>
            </a:pPr>
          </a:p>
          <a:p>
            <a:pPr algn="l" marL="0" indent="0" lvl="0">
              <a:lnSpc>
                <a:spcPts val="2940"/>
              </a:lnSpc>
            </a:pPr>
            <a:r>
              <a:rPr lang="en-US" b="true" sz="2100">
                <a:solidFill>
                  <a:srgbClr val="CCE2F3"/>
                </a:solidFill>
                <a:latin typeface="TT Interphases Bold"/>
                <a:ea typeface="TT Interphases Bold"/>
                <a:cs typeface="TT Interphases Bold"/>
                <a:sym typeface="TT Interphases Bold"/>
              </a:rPr>
              <a:t>How large is it?:</a:t>
            </a:r>
            <a:r>
              <a:rPr lang="en-US" sz="2100">
                <a:solidFill>
                  <a:srgbClr val="CCE2F3"/>
                </a:solidFill>
                <a:latin typeface="TT Interphases"/>
                <a:ea typeface="TT Interphases"/>
                <a:cs typeface="TT Interphases"/>
                <a:sym typeface="TT Interphases"/>
              </a:rPr>
              <a:t> The database contains 19962 rows, covering information about 211 countries.</a:t>
            </a:r>
          </a:p>
          <a:p>
            <a:pPr algn="l" marL="0" indent="0" lvl="0">
              <a:lnSpc>
                <a:spcPts val="2940"/>
              </a:lnSpc>
            </a:pPr>
          </a:p>
          <a:p>
            <a:pPr algn="l" marL="0" indent="0" lvl="0">
              <a:lnSpc>
                <a:spcPts val="2940"/>
              </a:lnSpc>
            </a:pPr>
          </a:p>
          <a:p>
            <a:pPr algn="l" marL="0" indent="0" lvl="0">
              <a:lnSpc>
                <a:spcPts val="2940"/>
              </a:lnSpc>
            </a:pPr>
          </a:p>
          <a:p>
            <a:pPr algn="l" marL="0" indent="0" lvl="0">
              <a:lnSpc>
                <a:spcPts val="2940"/>
              </a:lnSpc>
            </a:pPr>
          </a:p>
          <a:p>
            <a:pPr algn="l" marL="0" indent="0" lvl="0">
              <a:lnSpc>
                <a:spcPts val="2940"/>
              </a:lnSpc>
            </a:pPr>
          </a:p>
          <a:p>
            <a:pPr algn="l" marL="0" indent="0" lvl="0">
              <a:lnSpc>
                <a:spcPts val="294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611856" y="2813284"/>
            <a:ext cx="11064288" cy="7031445"/>
            <a:chOff x="0" y="0"/>
            <a:chExt cx="894790" cy="568647"/>
          </a:xfrm>
        </p:grpSpPr>
        <p:sp>
          <p:nvSpPr>
            <p:cNvPr name="Freeform 3" id="3"/>
            <p:cNvSpPr/>
            <p:nvPr/>
          </p:nvSpPr>
          <p:spPr>
            <a:xfrm flipH="false" flipV="false" rot="0">
              <a:off x="0" y="0"/>
              <a:ext cx="894790" cy="568647"/>
            </a:xfrm>
            <a:custGeom>
              <a:avLst/>
              <a:gdLst/>
              <a:ahLst/>
              <a:cxnLst/>
              <a:rect r="r" b="b" t="t" l="l"/>
              <a:pathLst>
                <a:path h="568647" w="894790">
                  <a:moveTo>
                    <a:pt x="0" y="0"/>
                  </a:moveTo>
                  <a:lnTo>
                    <a:pt x="894790" y="0"/>
                  </a:lnTo>
                  <a:lnTo>
                    <a:pt x="894790" y="568647"/>
                  </a:lnTo>
                  <a:lnTo>
                    <a:pt x="0" y="568647"/>
                  </a:lnTo>
                  <a:close/>
                </a:path>
              </a:pathLst>
            </a:custGeom>
            <a:blipFill>
              <a:blip r:embed="rId2"/>
              <a:stretch>
                <a:fillRect l="-5380" t="-434" r="-2414" b="-1125"/>
              </a:stretch>
            </a:blipFill>
          </p:spPr>
        </p:sp>
      </p:grpSp>
      <p:sp>
        <p:nvSpPr>
          <p:cNvPr name="TextBox 4" id="4"/>
          <p:cNvSpPr txBox="true"/>
          <p:nvPr/>
        </p:nvSpPr>
        <p:spPr>
          <a:xfrm rot="0">
            <a:off x="6290861" y="1095375"/>
            <a:ext cx="5706277"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Data Fetching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373711" y="2100585"/>
            <a:ext cx="11934781" cy="7429655"/>
            <a:chOff x="0" y="0"/>
            <a:chExt cx="957635" cy="596148"/>
          </a:xfrm>
        </p:grpSpPr>
        <p:sp>
          <p:nvSpPr>
            <p:cNvPr name="Freeform 3" id="3"/>
            <p:cNvSpPr/>
            <p:nvPr/>
          </p:nvSpPr>
          <p:spPr>
            <a:xfrm flipH="false" flipV="false" rot="0">
              <a:off x="0" y="0"/>
              <a:ext cx="957635" cy="596148"/>
            </a:xfrm>
            <a:custGeom>
              <a:avLst/>
              <a:gdLst/>
              <a:ahLst/>
              <a:cxnLst/>
              <a:rect r="r" b="b" t="t" l="l"/>
              <a:pathLst>
                <a:path h="596148" w="957635">
                  <a:moveTo>
                    <a:pt x="0" y="0"/>
                  </a:moveTo>
                  <a:lnTo>
                    <a:pt x="957635" y="0"/>
                  </a:lnTo>
                  <a:lnTo>
                    <a:pt x="957635" y="596148"/>
                  </a:lnTo>
                  <a:lnTo>
                    <a:pt x="0" y="596148"/>
                  </a:lnTo>
                  <a:close/>
                </a:path>
              </a:pathLst>
            </a:custGeom>
            <a:blipFill>
              <a:blip r:embed="rId2"/>
              <a:stretch>
                <a:fillRect l="-6083" t="0" r="-6083" b="0"/>
              </a:stretch>
            </a:blipFill>
          </p:spPr>
        </p:sp>
      </p:grpSp>
      <p:sp>
        <p:nvSpPr>
          <p:cNvPr name="TextBox 4" id="4"/>
          <p:cNvSpPr txBox="true"/>
          <p:nvPr/>
        </p:nvSpPr>
        <p:spPr>
          <a:xfrm rot="0">
            <a:off x="5854500" y="731541"/>
            <a:ext cx="6973202" cy="1024890"/>
          </a:xfrm>
          <a:prstGeom prst="rect">
            <a:avLst/>
          </a:prstGeom>
        </p:spPr>
        <p:txBody>
          <a:bodyPr anchor="t" rtlCol="false" tIns="0" lIns="0" bIns="0" rIns="0">
            <a:spAutoFit/>
          </a:bodyPr>
          <a:lstStyle/>
          <a:p>
            <a:pPr algn="l" marL="0" indent="0" lvl="0">
              <a:lnSpc>
                <a:spcPts val="7920"/>
              </a:lnSpc>
            </a:pPr>
            <a:r>
              <a:rPr lang="en-US" b="true" sz="7200">
                <a:solidFill>
                  <a:srgbClr val="38B6FF"/>
                </a:solidFill>
                <a:latin typeface="Antonio Bold"/>
                <a:ea typeface="Antonio Bold"/>
                <a:cs typeface="Antonio Bold"/>
                <a:sym typeface="Antonio Bold"/>
              </a:rPr>
              <a:t>Compare Countries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393081" y="2141893"/>
            <a:ext cx="4628699" cy="7429655"/>
            <a:chOff x="0" y="0"/>
            <a:chExt cx="371402" cy="596148"/>
          </a:xfrm>
        </p:grpSpPr>
        <p:sp>
          <p:nvSpPr>
            <p:cNvPr name="Freeform 3" id="3"/>
            <p:cNvSpPr/>
            <p:nvPr/>
          </p:nvSpPr>
          <p:spPr>
            <a:xfrm flipH="false" flipV="false" rot="0">
              <a:off x="0" y="0"/>
              <a:ext cx="371402" cy="596148"/>
            </a:xfrm>
            <a:custGeom>
              <a:avLst/>
              <a:gdLst/>
              <a:ahLst/>
              <a:cxnLst/>
              <a:rect r="r" b="b" t="t" l="l"/>
              <a:pathLst>
                <a:path h="596148" w="371402">
                  <a:moveTo>
                    <a:pt x="0" y="0"/>
                  </a:moveTo>
                  <a:lnTo>
                    <a:pt x="371402" y="0"/>
                  </a:lnTo>
                  <a:lnTo>
                    <a:pt x="371402" y="596148"/>
                  </a:lnTo>
                  <a:lnTo>
                    <a:pt x="0" y="596148"/>
                  </a:lnTo>
                  <a:close/>
                </a:path>
              </a:pathLst>
            </a:custGeom>
            <a:blipFill>
              <a:blip r:embed="rId2"/>
              <a:stretch>
                <a:fillRect l="-3470" t="0" r="-3470" b="0"/>
              </a:stretch>
            </a:blipFill>
          </p:spPr>
        </p:sp>
      </p:grpSp>
      <p:sp>
        <p:nvSpPr>
          <p:cNvPr name="TextBox 4" id="4"/>
          <p:cNvSpPr txBox="true"/>
          <p:nvPr/>
        </p:nvSpPr>
        <p:spPr>
          <a:xfrm rot="0">
            <a:off x="5657399" y="731541"/>
            <a:ext cx="6973202"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Sign Up and Log In</a:t>
            </a:r>
          </a:p>
        </p:txBody>
      </p:sp>
      <p:grpSp>
        <p:nvGrpSpPr>
          <p:cNvPr name="Group 5" id="5"/>
          <p:cNvGrpSpPr/>
          <p:nvPr/>
        </p:nvGrpSpPr>
        <p:grpSpPr>
          <a:xfrm rot="0">
            <a:off x="8541447" y="2141893"/>
            <a:ext cx="6103240" cy="6436747"/>
            <a:chOff x="0" y="0"/>
            <a:chExt cx="541572" cy="571166"/>
          </a:xfrm>
        </p:grpSpPr>
        <p:sp>
          <p:nvSpPr>
            <p:cNvPr name="Freeform 6" id="6"/>
            <p:cNvSpPr/>
            <p:nvPr/>
          </p:nvSpPr>
          <p:spPr>
            <a:xfrm flipH="false" flipV="false" rot="0">
              <a:off x="0" y="0"/>
              <a:ext cx="541572" cy="571166"/>
            </a:xfrm>
            <a:custGeom>
              <a:avLst/>
              <a:gdLst/>
              <a:ahLst/>
              <a:cxnLst/>
              <a:rect r="r" b="b" t="t" l="l"/>
              <a:pathLst>
                <a:path h="571166" w="541572">
                  <a:moveTo>
                    <a:pt x="0" y="0"/>
                  </a:moveTo>
                  <a:lnTo>
                    <a:pt x="541572" y="0"/>
                  </a:lnTo>
                  <a:lnTo>
                    <a:pt x="541572" y="571166"/>
                  </a:lnTo>
                  <a:lnTo>
                    <a:pt x="0" y="571166"/>
                  </a:lnTo>
                  <a:close/>
                </a:path>
              </a:pathLst>
            </a:custGeom>
            <a:blipFill>
              <a:blip r:embed="rId3"/>
              <a:stretch>
                <a:fillRect l="-1989" t="0" r="-1989"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176967" y="1641742"/>
            <a:ext cx="9934066" cy="7003516"/>
          </a:xfrm>
          <a:custGeom>
            <a:avLst/>
            <a:gdLst/>
            <a:ahLst/>
            <a:cxnLst/>
            <a:rect r="r" b="b" t="t" l="l"/>
            <a:pathLst>
              <a:path h="7003516" w="9934066">
                <a:moveTo>
                  <a:pt x="0" y="0"/>
                </a:moveTo>
                <a:lnTo>
                  <a:pt x="9934066" y="0"/>
                </a:lnTo>
                <a:lnTo>
                  <a:pt x="9934066" y="7003516"/>
                </a:lnTo>
                <a:lnTo>
                  <a:pt x="0" y="7003516"/>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04893" y="2595201"/>
            <a:ext cx="8346771" cy="6437447"/>
          </a:xfrm>
          <a:custGeom>
            <a:avLst/>
            <a:gdLst/>
            <a:ahLst/>
            <a:cxnLst/>
            <a:rect r="r" b="b" t="t" l="l"/>
            <a:pathLst>
              <a:path h="6437447" w="8346771">
                <a:moveTo>
                  <a:pt x="0" y="0"/>
                </a:moveTo>
                <a:lnTo>
                  <a:pt x="8346772" y="0"/>
                </a:lnTo>
                <a:lnTo>
                  <a:pt x="8346772" y="6437448"/>
                </a:lnTo>
                <a:lnTo>
                  <a:pt x="0" y="6437448"/>
                </a:lnTo>
                <a:lnTo>
                  <a:pt x="0" y="0"/>
                </a:lnTo>
                <a:close/>
              </a:path>
            </a:pathLst>
          </a:custGeom>
          <a:blipFill>
            <a:blip r:embed="rId2"/>
            <a:stretch>
              <a:fillRect l="0" t="0" r="0" b="0"/>
            </a:stretch>
          </a:blipFill>
        </p:spPr>
      </p:sp>
      <p:sp>
        <p:nvSpPr>
          <p:cNvPr name="Freeform 3" id="3"/>
          <p:cNvSpPr/>
          <p:nvPr/>
        </p:nvSpPr>
        <p:spPr>
          <a:xfrm flipH="false" flipV="false" rot="0">
            <a:off x="9328209" y="2626717"/>
            <a:ext cx="8099697" cy="5943153"/>
          </a:xfrm>
          <a:custGeom>
            <a:avLst/>
            <a:gdLst/>
            <a:ahLst/>
            <a:cxnLst/>
            <a:rect r="r" b="b" t="t" l="l"/>
            <a:pathLst>
              <a:path h="5943153" w="8099697">
                <a:moveTo>
                  <a:pt x="0" y="0"/>
                </a:moveTo>
                <a:lnTo>
                  <a:pt x="8099697" y="0"/>
                </a:lnTo>
                <a:lnTo>
                  <a:pt x="8099697" y="5943153"/>
                </a:lnTo>
                <a:lnTo>
                  <a:pt x="0" y="5943153"/>
                </a:lnTo>
                <a:lnTo>
                  <a:pt x="0" y="0"/>
                </a:lnTo>
                <a:close/>
              </a:path>
            </a:pathLst>
          </a:custGeom>
          <a:blipFill>
            <a:blip r:embed="rId3"/>
            <a:stretch>
              <a:fillRect l="0" t="0" r="0" b="0"/>
            </a:stretch>
          </a:blipFill>
        </p:spPr>
      </p:sp>
      <p:sp>
        <p:nvSpPr>
          <p:cNvPr name="TextBox 4" id="4"/>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Complex Queries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49857" y="2428283"/>
            <a:ext cx="7934417" cy="6694664"/>
          </a:xfrm>
          <a:custGeom>
            <a:avLst/>
            <a:gdLst/>
            <a:ahLst/>
            <a:cxnLst/>
            <a:rect r="r" b="b" t="t" l="l"/>
            <a:pathLst>
              <a:path h="6694664" w="7934417">
                <a:moveTo>
                  <a:pt x="0" y="0"/>
                </a:moveTo>
                <a:lnTo>
                  <a:pt x="7934417" y="0"/>
                </a:lnTo>
                <a:lnTo>
                  <a:pt x="7934417" y="6694665"/>
                </a:lnTo>
                <a:lnTo>
                  <a:pt x="0" y="6694665"/>
                </a:lnTo>
                <a:lnTo>
                  <a:pt x="0" y="0"/>
                </a:lnTo>
                <a:close/>
              </a:path>
            </a:pathLst>
          </a:custGeom>
          <a:blipFill>
            <a:blip r:embed="rId2"/>
            <a:stretch>
              <a:fillRect l="0" t="0" r="0" b="0"/>
            </a:stretch>
          </a:blipFill>
        </p:spPr>
      </p:sp>
      <p:sp>
        <p:nvSpPr>
          <p:cNvPr name="Freeform 3" id="3"/>
          <p:cNvSpPr/>
          <p:nvPr/>
        </p:nvSpPr>
        <p:spPr>
          <a:xfrm flipH="false" flipV="false" rot="0">
            <a:off x="8852915" y="3289425"/>
            <a:ext cx="9028037" cy="4401168"/>
          </a:xfrm>
          <a:custGeom>
            <a:avLst/>
            <a:gdLst/>
            <a:ahLst/>
            <a:cxnLst/>
            <a:rect r="r" b="b" t="t" l="l"/>
            <a:pathLst>
              <a:path h="4401168" w="9028037">
                <a:moveTo>
                  <a:pt x="0" y="0"/>
                </a:moveTo>
                <a:lnTo>
                  <a:pt x="9028037" y="0"/>
                </a:lnTo>
                <a:lnTo>
                  <a:pt x="9028037" y="4401168"/>
                </a:lnTo>
                <a:lnTo>
                  <a:pt x="0" y="4401168"/>
                </a:lnTo>
                <a:lnTo>
                  <a:pt x="0" y="0"/>
                </a:lnTo>
                <a:close/>
              </a:path>
            </a:pathLst>
          </a:custGeom>
          <a:blipFill>
            <a:blip r:embed="rId3"/>
            <a:stretch>
              <a:fillRect l="0" t="0" r="0" b="0"/>
            </a:stretch>
          </a:blipFill>
        </p:spPr>
      </p:sp>
      <p:sp>
        <p:nvSpPr>
          <p:cNvPr name="TextBox 4" id="4"/>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Complex Queries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45061" y="2375202"/>
            <a:ext cx="7360090" cy="6099674"/>
          </a:xfrm>
          <a:custGeom>
            <a:avLst/>
            <a:gdLst/>
            <a:ahLst/>
            <a:cxnLst/>
            <a:rect r="r" b="b" t="t" l="l"/>
            <a:pathLst>
              <a:path h="6099674" w="7360090">
                <a:moveTo>
                  <a:pt x="0" y="0"/>
                </a:moveTo>
                <a:lnTo>
                  <a:pt x="7360090" y="0"/>
                </a:lnTo>
                <a:lnTo>
                  <a:pt x="7360090" y="6099674"/>
                </a:lnTo>
                <a:lnTo>
                  <a:pt x="0" y="6099674"/>
                </a:lnTo>
                <a:lnTo>
                  <a:pt x="0" y="0"/>
                </a:lnTo>
                <a:close/>
              </a:path>
            </a:pathLst>
          </a:custGeom>
          <a:blipFill>
            <a:blip r:embed="rId2"/>
            <a:stretch>
              <a:fillRect l="0" t="0" r="0" b="0"/>
            </a:stretch>
          </a:blipFill>
        </p:spPr>
      </p:sp>
      <p:sp>
        <p:nvSpPr>
          <p:cNvPr name="Freeform 3" id="3"/>
          <p:cNvSpPr/>
          <p:nvPr/>
        </p:nvSpPr>
        <p:spPr>
          <a:xfrm flipH="false" flipV="false" rot="0">
            <a:off x="9353204" y="2411624"/>
            <a:ext cx="7689735" cy="6026830"/>
          </a:xfrm>
          <a:custGeom>
            <a:avLst/>
            <a:gdLst/>
            <a:ahLst/>
            <a:cxnLst/>
            <a:rect r="r" b="b" t="t" l="l"/>
            <a:pathLst>
              <a:path h="6026830" w="7689735">
                <a:moveTo>
                  <a:pt x="0" y="0"/>
                </a:moveTo>
                <a:lnTo>
                  <a:pt x="7689735" y="0"/>
                </a:lnTo>
                <a:lnTo>
                  <a:pt x="7689735" y="6026830"/>
                </a:lnTo>
                <a:lnTo>
                  <a:pt x="0" y="6026830"/>
                </a:lnTo>
                <a:lnTo>
                  <a:pt x="0" y="0"/>
                </a:lnTo>
                <a:close/>
              </a:path>
            </a:pathLst>
          </a:custGeom>
          <a:blipFill>
            <a:blip r:embed="rId3"/>
            <a:stretch>
              <a:fillRect l="0" t="0" r="0" b="0"/>
            </a:stretch>
          </a:blipFill>
        </p:spPr>
      </p:sp>
      <p:sp>
        <p:nvSpPr>
          <p:cNvPr name="TextBox 4" id="4"/>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Complex Queries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466495" y="2939923"/>
            <a:ext cx="13355010" cy="4407153"/>
          </a:xfrm>
          <a:custGeom>
            <a:avLst/>
            <a:gdLst/>
            <a:ahLst/>
            <a:cxnLst/>
            <a:rect r="r" b="b" t="t" l="l"/>
            <a:pathLst>
              <a:path h="4407153" w="13355010">
                <a:moveTo>
                  <a:pt x="0" y="0"/>
                </a:moveTo>
                <a:lnTo>
                  <a:pt x="13355010" y="0"/>
                </a:lnTo>
                <a:lnTo>
                  <a:pt x="13355010" y="4407154"/>
                </a:lnTo>
                <a:lnTo>
                  <a:pt x="0" y="4407154"/>
                </a:lnTo>
                <a:lnTo>
                  <a:pt x="0" y="0"/>
                </a:lnTo>
                <a:close/>
              </a:path>
            </a:pathLst>
          </a:custGeom>
          <a:blipFill>
            <a:blip r:embed="rId2"/>
            <a:stretch>
              <a:fillRect l="0" t="0" r="0" b="0"/>
            </a:stretch>
          </a:blipFill>
        </p:spPr>
      </p:sp>
      <p:sp>
        <p:nvSpPr>
          <p:cNvPr name="TextBox 3" id="3"/>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Complex Queries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643915" y="2555391"/>
            <a:ext cx="9000170" cy="5782609"/>
          </a:xfrm>
          <a:custGeom>
            <a:avLst/>
            <a:gdLst/>
            <a:ahLst/>
            <a:cxnLst/>
            <a:rect r="r" b="b" t="t" l="l"/>
            <a:pathLst>
              <a:path h="5782609" w="9000170">
                <a:moveTo>
                  <a:pt x="0" y="0"/>
                </a:moveTo>
                <a:lnTo>
                  <a:pt x="9000170" y="0"/>
                </a:lnTo>
                <a:lnTo>
                  <a:pt x="9000170" y="5782610"/>
                </a:lnTo>
                <a:lnTo>
                  <a:pt x="0" y="5782610"/>
                </a:lnTo>
                <a:lnTo>
                  <a:pt x="0" y="0"/>
                </a:lnTo>
                <a:close/>
              </a:path>
            </a:pathLst>
          </a:custGeom>
          <a:blipFill>
            <a:blip r:embed="rId2"/>
            <a:stretch>
              <a:fillRect l="0" t="0" r="0" b="0"/>
            </a:stretch>
          </a:blipFill>
        </p:spPr>
      </p:sp>
      <p:sp>
        <p:nvSpPr>
          <p:cNvPr name="TextBox 3" id="3"/>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sz="7200">
                <a:solidFill>
                  <a:srgbClr val="38B6FF"/>
                </a:solidFill>
                <a:latin typeface="Antonio"/>
                <a:ea typeface="Antonio"/>
                <a:cs typeface="Antonio"/>
                <a:sym typeface="Antonio"/>
              </a:rPr>
              <a:t>Complex Queries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643915" y="2490421"/>
            <a:ext cx="9000170" cy="5782609"/>
          </a:xfrm>
          <a:custGeom>
            <a:avLst/>
            <a:gdLst/>
            <a:ahLst/>
            <a:cxnLst/>
            <a:rect r="r" b="b" t="t" l="l"/>
            <a:pathLst>
              <a:path h="5782609" w="9000170">
                <a:moveTo>
                  <a:pt x="0" y="0"/>
                </a:moveTo>
                <a:lnTo>
                  <a:pt x="9000170" y="0"/>
                </a:lnTo>
                <a:lnTo>
                  <a:pt x="9000170" y="5782609"/>
                </a:lnTo>
                <a:lnTo>
                  <a:pt x="0" y="5782609"/>
                </a:lnTo>
                <a:lnTo>
                  <a:pt x="0" y="0"/>
                </a:lnTo>
                <a:close/>
              </a:path>
            </a:pathLst>
          </a:custGeom>
          <a:blipFill>
            <a:blip r:embed="rId2"/>
            <a:stretch>
              <a:fillRect l="0" t="0" r="0" b="0"/>
            </a:stretch>
          </a:blipFill>
        </p:spPr>
      </p:sp>
      <p:sp>
        <p:nvSpPr>
          <p:cNvPr name="TextBox 3" id="3"/>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Complex Queries</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700712" y="733425"/>
            <a:ext cx="6886575" cy="1024890"/>
          </a:xfrm>
          <a:prstGeom prst="rect">
            <a:avLst/>
          </a:prstGeom>
        </p:spPr>
        <p:txBody>
          <a:bodyPr anchor="t" rtlCol="false" tIns="0" lIns="0" bIns="0" rIns="0">
            <a:spAutoFit/>
          </a:bodyPr>
          <a:lstStyle/>
          <a:p>
            <a:pPr algn="ctr" marL="0" indent="0" lvl="0">
              <a:lnSpc>
                <a:spcPts val="7920"/>
              </a:lnSpc>
            </a:pPr>
            <a:r>
              <a:rPr lang="en-US" b="true" sz="7200">
                <a:solidFill>
                  <a:srgbClr val="38B6FF"/>
                </a:solidFill>
                <a:latin typeface="Antonio Bold"/>
                <a:ea typeface="Antonio Bold"/>
                <a:cs typeface="Antonio Bold"/>
                <a:sym typeface="Antonio Bold"/>
              </a:rPr>
              <a:t>Delete Constraints</a:t>
            </a:r>
          </a:p>
        </p:txBody>
      </p:sp>
      <p:sp>
        <p:nvSpPr>
          <p:cNvPr name="TextBox 3" id="3"/>
          <p:cNvSpPr txBox="true"/>
          <p:nvPr/>
        </p:nvSpPr>
        <p:spPr>
          <a:xfrm rot="0">
            <a:off x="288863" y="2621957"/>
            <a:ext cx="8057879" cy="61182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IndicatorData Table :</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Countries: </a:t>
            </a:r>
            <a:r>
              <a:rPr lang="en-US" sz="2499">
                <a:solidFill>
                  <a:srgbClr val="CCE2F3"/>
                </a:solidFill>
                <a:latin typeface="TT Interphases"/>
                <a:ea typeface="TT Interphases"/>
                <a:cs typeface="TT Interphases"/>
                <a:sym typeface="TT Interphases"/>
              </a:rPr>
              <a:t>ON DELETE RESTRICT</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Indicators:</a:t>
            </a:r>
            <a:r>
              <a:rPr lang="en-US" sz="2499">
                <a:solidFill>
                  <a:srgbClr val="CCE2F3"/>
                </a:solidFill>
                <a:latin typeface="TT Interphases"/>
                <a:ea typeface="TT Interphases"/>
                <a:cs typeface="TT Interphases"/>
                <a:sym typeface="TT Interphases"/>
              </a:rPr>
              <a:t> ON DELETE RESTRICT</a:t>
            </a:r>
          </a:p>
          <a:p>
            <a:pPr algn="l">
              <a:lnSpc>
                <a:spcPts val="3499"/>
              </a:lnSpc>
            </a:pP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EducationIndicators Table :</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IndicatorCategories: </a:t>
            </a:r>
            <a:r>
              <a:rPr lang="en-US" sz="2499">
                <a:solidFill>
                  <a:srgbClr val="CCE2F3"/>
                </a:solidFill>
                <a:latin typeface="TT Interphases"/>
                <a:ea typeface="TT Interphases"/>
                <a:cs typeface="TT Interphases"/>
                <a:sym typeface="TT Interphases"/>
              </a:rPr>
              <a:t>ON DELETE CASCADE</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Sources: </a:t>
            </a:r>
            <a:r>
              <a:rPr lang="en-US" sz="2499">
                <a:solidFill>
                  <a:srgbClr val="CCE2F3"/>
                </a:solidFill>
                <a:latin typeface="TT Interphases"/>
                <a:ea typeface="TT Interphases"/>
                <a:cs typeface="TT Interphases"/>
                <a:sym typeface="TT Interphases"/>
              </a:rPr>
              <a:t>ON DELETE RESTRICT</a:t>
            </a:r>
          </a:p>
          <a:p>
            <a:pPr algn="l">
              <a:lnSpc>
                <a:spcPts val="3499"/>
              </a:lnSpc>
            </a:pP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EconomyIndicators Table :</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IndicatorCategories: </a:t>
            </a:r>
            <a:r>
              <a:rPr lang="en-US" sz="2499">
                <a:solidFill>
                  <a:srgbClr val="CCE2F3"/>
                </a:solidFill>
                <a:latin typeface="TT Interphases"/>
                <a:ea typeface="TT Interphases"/>
                <a:cs typeface="TT Interphases"/>
                <a:sym typeface="TT Interphases"/>
              </a:rPr>
              <a:t>ON DELETE RESTRICT</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Sources: </a:t>
            </a:r>
            <a:r>
              <a:rPr lang="en-US" sz="2499">
                <a:solidFill>
                  <a:srgbClr val="CCE2F3"/>
                </a:solidFill>
                <a:latin typeface="TT Interphases"/>
                <a:ea typeface="TT Interphases"/>
                <a:cs typeface="TT Interphases"/>
                <a:sym typeface="TT Interphases"/>
              </a:rPr>
              <a:t>ON DELETE RESTRICT</a:t>
            </a:r>
          </a:p>
          <a:p>
            <a:pPr algn="l">
              <a:lnSpc>
                <a:spcPts val="3499"/>
              </a:lnSpc>
            </a:pPr>
          </a:p>
          <a:p>
            <a:pPr algn="l" marL="0" indent="0" lvl="0">
              <a:lnSpc>
                <a:spcPts val="3499"/>
              </a:lnSpc>
            </a:pPr>
          </a:p>
          <a:p>
            <a:pPr algn="l" marL="0" indent="0" lvl="0">
              <a:lnSpc>
                <a:spcPts val="3499"/>
              </a:lnSpc>
            </a:pPr>
          </a:p>
        </p:txBody>
      </p:sp>
      <p:sp>
        <p:nvSpPr>
          <p:cNvPr name="TextBox 4" id="4"/>
          <p:cNvSpPr txBox="true"/>
          <p:nvPr/>
        </p:nvSpPr>
        <p:spPr>
          <a:xfrm rot="0">
            <a:off x="9553261" y="3200756"/>
            <a:ext cx="8057879" cy="43656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Health </a:t>
            </a:r>
            <a:r>
              <a:rPr lang="en-US" b="true" sz="2499">
                <a:solidFill>
                  <a:srgbClr val="CCE2F3"/>
                </a:solidFill>
                <a:latin typeface="TT Interphases Bold"/>
                <a:ea typeface="TT Interphases Bold"/>
                <a:cs typeface="TT Interphases Bold"/>
                <a:sym typeface="TT Interphases Bold"/>
              </a:rPr>
              <a:t>Indicators Table :</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IndicatorCategories: </a:t>
            </a:r>
            <a:r>
              <a:rPr lang="en-US" sz="2499">
                <a:solidFill>
                  <a:srgbClr val="CCE2F3"/>
                </a:solidFill>
                <a:latin typeface="TT Interphases"/>
                <a:ea typeface="TT Interphases"/>
                <a:cs typeface="TT Interphases"/>
                <a:sym typeface="TT Interphases"/>
              </a:rPr>
              <a:t>ON DELETE CASCADE</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Sources: </a:t>
            </a:r>
            <a:r>
              <a:rPr lang="en-US" sz="2499">
                <a:solidFill>
                  <a:srgbClr val="CCE2F3"/>
                </a:solidFill>
                <a:latin typeface="TT Interphases"/>
                <a:ea typeface="TT Interphases"/>
                <a:cs typeface="TT Interphases"/>
                <a:sym typeface="TT Interphases"/>
              </a:rPr>
              <a:t>ON DELETE RESTRICT</a:t>
            </a:r>
          </a:p>
          <a:p>
            <a:pPr algn="l">
              <a:lnSpc>
                <a:spcPts val="3499"/>
              </a:lnSpc>
            </a:pPr>
          </a:p>
          <a:p>
            <a:pPr algn="l" marL="539749" indent="-269875" lvl="1">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Countries Table :</a:t>
            </a:r>
          </a:p>
          <a:p>
            <a:pPr algn="l" marL="1079499" indent="-359833" lvl="2">
              <a:lnSpc>
                <a:spcPts val="3499"/>
              </a:lnSpc>
              <a:buFont typeface="Arial"/>
              <a:buChar char="⚬"/>
            </a:pPr>
            <a:r>
              <a:rPr lang="en-US" b="true" sz="2499">
                <a:solidFill>
                  <a:srgbClr val="CCE2F3"/>
                </a:solidFill>
                <a:latin typeface="TT Interphases Bold"/>
                <a:ea typeface="TT Interphases Bold"/>
                <a:cs typeface="TT Interphases Bold"/>
                <a:sym typeface="TT Interphases Bold"/>
              </a:rPr>
              <a:t>Regions</a:t>
            </a:r>
            <a:r>
              <a:rPr lang="en-US" b="true" sz="2499">
                <a:solidFill>
                  <a:srgbClr val="CCE2F3"/>
                </a:solidFill>
                <a:latin typeface="TT Interphases Bold"/>
                <a:ea typeface="TT Interphases Bold"/>
                <a:cs typeface="TT Interphases Bold"/>
                <a:sym typeface="TT Interphases Bold"/>
              </a:rPr>
              <a:t>: </a:t>
            </a:r>
            <a:r>
              <a:rPr lang="en-US" sz="2499">
                <a:solidFill>
                  <a:srgbClr val="CCE2F3"/>
                </a:solidFill>
                <a:latin typeface="TT Interphases"/>
                <a:ea typeface="TT Interphases"/>
                <a:cs typeface="TT Interphases"/>
                <a:sym typeface="TT Interphases"/>
              </a:rPr>
              <a:t>ON DELETE RESTRICT</a:t>
            </a:r>
          </a:p>
          <a:p>
            <a:pPr algn="l">
              <a:lnSpc>
                <a:spcPts val="3499"/>
              </a:lnSpc>
            </a:pPr>
          </a:p>
          <a:p>
            <a:pPr algn="l">
              <a:lnSpc>
                <a:spcPts val="3499"/>
              </a:lnSpc>
            </a:pPr>
          </a:p>
          <a:p>
            <a:pPr algn="l" marL="0" indent="0" lvl="0">
              <a:lnSpc>
                <a:spcPts val="3499"/>
              </a:lnSpc>
            </a:pPr>
          </a:p>
          <a:p>
            <a:pPr algn="l" marL="0" indent="0" lvl="0">
              <a:lnSpc>
                <a:spcPts val="349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flipV="true">
            <a:off x="666750" y="9625012"/>
            <a:ext cx="5753100" cy="0"/>
          </a:xfrm>
          <a:prstGeom prst="line">
            <a:avLst/>
          </a:prstGeom>
          <a:ln cap="flat" w="9525">
            <a:solidFill>
              <a:srgbClr val="2F4F4F"/>
            </a:solidFill>
            <a:prstDash val="solid"/>
            <a:headEnd type="none" len="sm" w="sm"/>
            <a:tailEnd type="none" len="sm" w="sm"/>
          </a:ln>
        </p:spPr>
      </p:sp>
      <p:sp>
        <p:nvSpPr>
          <p:cNvPr name="Freeform 3" id="3"/>
          <p:cNvSpPr/>
          <p:nvPr/>
        </p:nvSpPr>
        <p:spPr>
          <a:xfrm flipH="false" flipV="false" rot="0">
            <a:off x="7329678" y="1986448"/>
            <a:ext cx="10496086" cy="3957899"/>
          </a:xfrm>
          <a:custGeom>
            <a:avLst/>
            <a:gdLst/>
            <a:ahLst/>
            <a:cxnLst/>
            <a:rect r="r" b="b" t="t" l="l"/>
            <a:pathLst>
              <a:path h="3957899" w="10496086">
                <a:moveTo>
                  <a:pt x="0" y="0"/>
                </a:moveTo>
                <a:lnTo>
                  <a:pt x="10496086" y="0"/>
                </a:lnTo>
                <a:lnTo>
                  <a:pt x="10496086" y="3957899"/>
                </a:lnTo>
                <a:lnTo>
                  <a:pt x="0" y="3957899"/>
                </a:lnTo>
                <a:lnTo>
                  <a:pt x="0" y="0"/>
                </a:lnTo>
                <a:close/>
              </a:path>
            </a:pathLst>
          </a:custGeom>
          <a:blipFill>
            <a:blip r:embed="rId2"/>
            <a:stretch>
              <a:fillRect l="0" t="0" r="0" b="0"/>
            </a:stretch>
          </a:blipFill>
        </p:spPr>
      </p:sp>
      <p:sp>
        <p:nvSpPr>
          <p:cNvPr name="Freeform 4" id="4"/>
          <p:cNvSpPr/>
          <p:nvPr/>
        </p:nvSpPr>
        <p:spPr>
          <a:xfrm flipH="false" flipV="false" rot="0">
            <a:off x="666750" y="2558936"/>
            <a:ext cx="5469885" cy="5496292"/>
          </a:xfrm>
          <a:custGeom>
            <a:avLst/>
            <a:gdLst/>
            <a:ahLst/>
            <a:cxnLst/>
            <a:rect r="r" b="b" t="t" l="l"/>
            <a:pathLst>
              <a:path h="5496292" w="5469885">
                <a:moveTo>
                  <a:pt x="0" y="0"/>
                </a:moveTo>
                <a:lnTo>
                  <a:pt x="5469885" y="0"/>
                </a:lnTo>
                <a:lnTo>
                  <a:pt x="5469885" y="5496292"/>
                </a:lnTo>
                <a:lnTo>
                  <a:pt x="0" y="5496292"/>
                </a:lnTo>
                <a:lnTo>
                  <a:pt x="0" y="0"/>
                </a:lnTo>
                <a:close/>
              </a:path>
            </a:pathLst>
          </a:custGeom>
          <a:blipFill>
            <a:blip r:embed="rId3"/>
            <a:stretch>
              <a:fillRect l="0" t="0" r="0" b="0"/>
            </a:stretch>
          </a:blipFill>
        </p:spPr>
      </p:sp>
      <p:sp>
        <p:nvSpPr>
          <p:cNvPr name="TextBox 5" id="5"/>
          <p:cNvSpPr txBox="true"/>
          <p:nvPr/>
        </p:nvSpPr>
        <p:spPr>
          <a:xfrm rot="0">
            <a:off x="666750" y="733425"/>
            <a:ext cx="6886575" cy="1024890"/>
          </a:xfrm>
          <a:prstGeom prst="rect">
            <a:avLst/>
          </a:prstGeom>
        </p:spPr>
        <p:txBody>
          <a:bodyPr anchor="t" rtlCol="false" tIns="0" lIns="0" bIns="0" rIns="0">
            <a:spAutoFit/>
          </a:bodyPr>
          <a:lstStyle/>
          <a:p>
            <a:pPr algn="l" marL="0" indent="0" lvl="0">
              <a:lnSpc>
                <a:spcPts val="7920"/>
              </a:lnSpc>
            </a:pPr>
            <a:r>
              <a:rPr lang="en-US" sz="7200">
                <a:solidFill>
                  <a:srgbClr val="38B6FF"/>
                </a:solidFill>
                <a:latin typeface="Antonio Light"/>
                <a:ea typeface="Antonio Light"/>
                <a:cs typeface="Antonio Light"/>
                <a:sym typeface="Antonio Light"/>
              </a:rPr>
              <a:t>Testing</a:t>
            </a:r>
          </a:p>
        </p:txBody>
      </p:sp>
      <p:sp>
        <p:nvSpPr>
          <p:cNvPr name="TextBox 6" id="6"/>
          <p:cNvSpPr txBox="true"/>
          <p:nvPr/>
        </p:nvSpPr>
        <p:spPr>
          <a:xfrm rot="0">
            <a:off x="9268310" y="7416365"/>
            <a:ext cx="6886575" cy="1480185"/>
          </a:xfrm>
          <a:prstGeom prst="rect">
            <a:avLst/>
          </a:prstGeom>
        </p:spPr>
        <p:txBody>
          <a:bodyPr anchor="t" rtlCol="false" tIns="0" lIns="0" bIns="0" rIns="0">
            <a:spAutoFit/>
          </a:bodyPr>
          <a:lstStyle/>
          <a:p>
            <a:pPr algn="l" marL="0" indent="0" lvl="0">
              <a:lnSpc>
                <a:spcPts val="2940"/>
              </a:lnSpc>
            </a:pPr>
            <a:r>
              <a:rPr lang="en-US" sz="2100">
                <a:solidFill>
                  <a:srgbClr val="CCE2F3"/>
                </a:solidFill>
                <a:latin typeface="TT Interphases"/>
                <a:ea typeface="TT Interphases"/>
                <a:cs typeface="TT Interphases"/>
                <a:sym typeface="TT Interphases"/>
              </a:rPr>
              <a:t>“Since this</a:t>
            </a:r>
            <a:r>
              <a:rPr lang="en-US" sz="2100">
                <a:solidFill>
                  <a:srgbClr val="CCE2F3"/>
                </a:solidFill>
                <a:latin typeface="TT Interphases"/>
                <a:ea typeface="TT Interphases"/>
                <a:cs typeface="TT Interphases"/>
                <a:sym typeface="TT Interphases"/>
              </a:rPr>
              <a:t> is a data-driven </a:t>
            </a:r>
            <a:r>
              <a:rPr lang="en-US" sz="2100">
                <a:solidFill>
                  <a:srgbClr val="CCE2F3"/>
                </a:solidFill>
                <a:latin typeface="TT Interphases"/>
                <a:ea typeface="TT Interphases"/>
                <a:cs typeface="TT Interphases"/>
                <a:sym typeface="TT Interphases"/>
              </a:rPr>
              <a:t>a</a:t>
            </a:r>
            <a:r>
              <a:rPr lang="en-US" sz="2100">
                <a:solidFill>
                  <a:srgbClr val="CCE2F3"/>
                </a:solidFill>
                <a:latin typeface="TT Interphases"/>
                <a:ea typeface="TT Interphases"/>
                <a:cs typeface="TT Interphases"/>
                <a:sym typeface="TT Interphases"/>
              </a:rPr>
              <a:t>pplic</a:t>
            </a:r>
            <a:r>
              <a:rPr lang="en-US" sz="2100">
                <a:solidFill>
                  <a:srgbClr val="CCE2F3"/>
                </a:solidFill>
                <a:latin typeface="TT Interphases"/>
                <a:ea typeface="TT Interphases"/>
                <a:cs typeface="TT Interphases"/>
                <a:sym typeface="TT Interphases"/>
              </a:rPr>
              <a:t>ati</a:t>
            </a:r>
            <a:r>
              <a:rPr lang="en-US" sz="2100">
                <a:solidFill>
                  <a:srgbClr val="CCE2F3"/>
                </a:solidFill>
                <a:latin typeface="TT Interphases"/>
                <a:ea typeface="TT Interphases"/>
                <a:cs typeface="TT Interphases"/>
                <a:sym typeface="TT Interphases"/>
              </a:rPr>
              <a:t>o</a:t>
            </a:r>
            <a:r>
              <a:rPr lang="en-US" sz="2100">
                <a:solidFill>
                  <a:srgbClr val="CCE2F3"/>
                </a:solidFill>
                <a:latin typeface="TT Interphases"/>
                <a:ea typeface="TT Interphases"/>
                <a:cs typeface="TT Interphases"/>
                <a:sym typeface="TT Interphases"/>
              </a:rPr>
              <a:t>n </a:t>
            </a:r>
            <a:r>
              <a:rPr lang="en-US" sz="2100">
                <a:solidFill>
                  <a:srgbClr val="CCE2F3"/>
                </a:solidFill>
                <a:latin typeface="TT Interphases"/>
                <a:ea typeface="TT Interphases"/>
                <a:cs typeface="TT Interphases"/>
                <a:sym typeface="TT Interphases"/>
              </a:rPr>
              <a:t>w</a:t>
            </a:r>
            <a:r>
              <a:rPr lang="en-US" sz="2100">
                <a:solidFill>
                  <a:srgbClr val="CCE2F3"/>
                </a:solidFill>
                <a:latin typeface="TT Interphases"/>
                <a:ea typeface="TT Interphases"/>
                <a:cs typeface="TT Interphases"/>
                <a:sym typeface="TT Interphases"/>
              </a:rPr>
              <a:t>it</a:t>
            </a:r>
            <a:r>
              <a:rPr lang="en-US" sz="2100">
                <a:solidFill>
                  <a:srgbClr val="CCE2F3"/>
                </a:solidFill>
                <a:latin typeface="TT Interphases"/>
                <a:ea typeface="TT Interphases"/>
                <a:cs typeface="TT Interphases"/>
                <a:sym typeface="TT Interphases"/>
              </a:rPr>
              <a:t>h </a:t>
            </a:r>
            <a:r>
              <a:rPr lang="en-US" sz="2100">
                <a:solidFill>
                  <a:srgbClr val="CCE2F3"/>
                </a:solidFill>
                <a:latin typeface="TT Interphases"/>
                <a:ea typeface="TT Interphases"/>
                <a:cs typeface="TT Interphases"/>
                <a:sym typeface="TT Interphases"/>
              </a:rPr>
              <a:t>l</a:t>
            </a:r>
            <a:r>
              <a:rPr lang="en-US" sz="2100">
                <a:solidFill>
                  <a:srgbClr val="CCE2F3"/>
                </a:solidFill>
                <a:latin typeface="TT Interphases"/>
                <a:ea typeface="TT Interphases"/>
                <a:cs typeface="TT Interphases"/>
                <a:sym typeface="TT Interphases"/>
              </a:rPr>
              <a:t>im</a:t>
            </a:r>
            <a:r>
              <a:rPr lang="en-US" sz="2100">
                <a:solidFill>
                  <a:srgbClr val="CCE2F3"/>
                </a:solidFill>
                <a:latin typeface="TT Interphases"/>
                <a:ea typeface="TT Interphases"/>
                <a:cs typeface="TT Interphases"/>
                <a:sym typeface="TT Interphases"/>
              </a:rPr>
              <a:t>i</a:t>
            </a:r>
            <a:r>
              <a:rPr lang="en-US" sz="2100">
                <a:solidFill>
                  <a:srgbClr val="CCE2F3"/>
                </a:solidFill>
                <a:latin typeface="TT Interphases"/>
                <a:ea typeface="TT Interphases"/>
                <a:cs typeface="TT Interphases"/>
                <a:sym typeface="TT Interphases"/>
              </a:rPr>
              <a:t>ted user interaction, our testing mainly focused on validating imported data, enforcing admin-only CRUD operations, and ensuring database integrity.”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666750" y="8277738"/>
            <a:ext cx="16954500" cy="0"/>
          </a:xfrm>
          <a:prstGeom prst="line">
            <a:avLst/>
          </a:prstGeom>
          <a:ln cap="flat" w="19050">
            <a:solidFill>
              <a:srgbClr val="2F4F4F"/>
            </a:solidFill>
            <a:prstDash val="solid"/>
            <a:headEnd type="none" len="sm" w="sm"/>
            <a:tailEnd type="none" len="sm" w="sm"/>
          </a:ln>
        </p:spPr>
      </p:sp>
      <p:grpSp>
        <p:nvGrpSpPr>
          <p:cNvPr name="Group 3" id="3"/>
          <p:cNvGrpSpPr/>
          <p:nvPr/>
        </p:nvGrpSpPr>
        <p:grpSpPr>
          <a:xfrm rot="0">
            <a:off x="6419850" y="0"/>
            <a:ext cx="11868150" cy="6034088"/>
            <a:chOff x="0" y="0"/>
            <a:chExt cx="1598656" cy="812800"/>
          </a:xfrm>
        </p:grpSpPr>
        <p:sp>
          <p:nvSpPr>
            <p:cNvPr name="Freeform 4" id="4"/>
            <p:cNvSpPr/>
            <p:nvPr/>
          </p:nvSpPr>
          <p:spPr>
            <a:xfrm flipH="false" flipV="false" rot="0">
              <a:off x="0" y="0"/>
              <a:ext cx="1598656" cy="812800"/>
            </a:xfrm>
            <a:custGeom>
              <a:avLst/>
              <a:gdLst/>
              <a:ahLst/>
              <a:cxnLst/>
              <a:rect r="r" b="b" t="t" l="l"/>
              <a:pathLst>
                <a:path h="812800" w="1598656">
                  <a:moveTo>
                    <a:pt x="0" y="0"/>
                  </a:moveTo>
                  <a:lnTo>
                    <a:pt x="1598656" y="0"/>
                  </a:lnTo>
                  <a:lnTo>
                    <a:pt x="1598656" y="812800"/>
                  </a:lnTo>
                  <a:lnTo>
                    <a:pt x="0" y="812800"/>
                  </a:lnTo>
                  <a:close/>
                </a:path>
              </a:pathLst>
            </a:custGeom>
            <a:blipFill>
              <a:blip r:embed="rId2"/>
              <a:stretch>
                <a:fillRect l="-91" t="0" r="-91" b="0"/>
              </a:stretch>
            </a:blipFill>
          </p:spPr>
        </p:sp>
      </p:grpSp>
      <p:sp>
        <p:nvSpPr>
          <p:cNvPr name="TextBox 5" id="5"/>
          <p:cNvSpPr txBox="true"/>
          <p:nvPr/>
        </p:nvSpPr>
        <p:spPr>
          <a:xfrm rot="0">
            <a:off x="666750" y="6934200"/>
            <a:ext cx="16954500" cy="1076325"/>
          </a:xfrm>
          <a:prstGeom prst="rect">
            <a:avLst/>
          </a:prstGeom>
        </p:spPr>
        <p:txBody>
          <a:bodyPr anchor="t" rtlCol="false" tIns="0" lIns="0" bIns="0" rIns="0">
            <a:spAutoFit/>
          </a:bodyPr>
          <a:lstStyle/>
          <a:p>
            <a:pPr algn="l" marL="0" indent="0" lvl="0">
              <a:lnSpc>
                <a:spcPts val="8532"/>
              </a:lnSpc>
            </a:pPr>
            <a:r>
              <a:rPr lang="en-US" b="true" sz="7109">
                <a:solidFill>
                  <a:srgbClr val="38B6FF"/>
                </a:solidFill>
                <a:latin typeface="Antonio Bold"/>
                <a:ea typeface="Antonio Bold"/>
                <a:cs typeface="Antonio Bold"/>
                <a:sym typeface="Antonio Bold"/>
              </a:rPr>
              <a:t>Thank you for your attention!</a:t>
            </a:r>
          </a:p>
        </p:txBody>
      </p:sp>
      <p:sp>
        <p:nvSpPr>
          <p:cNvPr name="Freeform 6" id="6"/>
          <p:cNvSpPr/>
          <p:nvPr/>
        </p:nvSpPr>
        <p:spPr>
          <a:xfrm flipH="false" flipV="false" rot="0">
            <a:off x="666750" y="666750"/>
            <a:ext cx="2686050" cy="2686050"/>
          </a:xfrm>
          <a:custGeom>
            <a:avLst/>
            <a:gdLst/>
            <a:ahLst/>
            <a:cxnLst/>
            <a:rect r="r" b="b" t="t" l="l"/>
            <a:pathLst>
              <a:path h="2686050" w="2686050">
                <a:moveTo>
                  <a:pt x="0" y="0"/>
                </a:moveTo>
                <a:lnTo>
                  <a:pt x="2686050" y="0"/>
                </a:lnTo>
                <a:lnTo>
                  <a:pt x="2686050" y="2686050"/>
                </a:lnTo>
                <a:lnTo>
                  <a:pt x="0" y="26860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Sunum - Database Systems Project Presentation</dc:description>
  <dc:identifier>DAG8LDgZxcs</dc:identifier>
  <dcterms:modified xsi:type="dcterms:W3CDTF">2011-08-01T06:04:30Z</dcterms:modified>
  <cp:revision>1</cp:revision>
  <dc:title>Sunum - Database Systems Project Presentation</dc:title>
</cp:coreProperties>
</file>